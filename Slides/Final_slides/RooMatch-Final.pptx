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68" r:id="rId4"/>
    <p:sldId id="260" r:id="rId5"/>
    <p:sldId id="261" r:id="rId6"/>
    <p:sldId id="269" r:id="rId7"/>
    <p:sldId id="263" r:id="rId8"/>
    <p:sldId id="264" r:id="rId9"/>
    <p:sldId id="265" r:id="rId10"/>
    <p:sldId id="266" r:id="rId11"/>
  </p:sldIdLst>
  <p:sldSz cx="14630400" cy="8229600"/>
  <p:notesSz cx="8229600" cy="14630400"/>
  <p:embeddedFontLst>
    <p:embeddedFont>
      <p:font typeface="Corben" panose="020B0604020202020204" charset="0"/>
      <p:regular r:id="rId13"/>
    </p:embeddedFont>
    <p:embeddedFont>
      <p:font typeface="Georgia" panose="02040502050405020303" pitchFamily="18" charset="0"/>
      <p:regular r:id="rId14"/>
      <p:bold r:id="rId15"/>
      <p:italic r:id="rId16"/>
      <p:boldItalic r:id="rId17"/>
    </p:embeddedFont>
    <p:embeddedFont>
      <p:font typeface="Georgia Bold" panose="02040802050405020203" pitchFamily="18" charset="0"/>
      <p:bold r:id="rId18"/>
    </p:embeddedFont>
    <p:embeddedFont>
      <p:font typeface="Nobile" panose="020B0604020202020204" charset="0"/>
      <p:regular r:id="rId19"/>
    </p:embeddedFont>
  </p:embeddedFontLst>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030690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437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85000"/>
            </a:srgbClr>
          </a:solidFill>
          <a:ln/>
        </p:spPr>
        <p:txBody>
          <a:bodyPr/>
          <a:lstStyle/>
          <a:p>
            <a:endParaRPr lang="en-US"/>
          </a:p>
        </p:txBody>
      </p:sp>
      <p:sp>
        <p:nvSpPr>
          <p:cNvPr id="4" name="Text 1"/>
          <p:cNvSpPr/>
          <p:nvPr/>
        </p:nvSpPr>
        <p:spPr>
          <a:xfrm>
            <a:off x="793790" y="3537823"/>
            <a:ext cx="5670590" cy="708779"/>
          </a:xfrm>
          <a:prstGeom prst="rect">
            <a:avLst/>
          </a:prstGeom>
          <a:noFill/>
          <a:ln/>
        </p:spPr>
        <p:txBody>
          <a:bodyPr wrap="none" lIns="0" tIns="0" rIns="0" bIns="0" rtlCol="0" anchor="t"/>
          <a:lstStyle/>
          <a:p>
            <a:pPr marL="0" indent="0" algn="l" rtl="0">
              <a:lnSpc>
                <a:spcPts val="5550"/>
              </a:lnSpc>
              <a:buNone/>
            </a:pPr>
            <a:r>
              <a:rPr lang="en-US" sz="4450" dirty="0">
                <a:solidFill>
                  <a:srgbClr val="1B1B27"/>
                </a:solidFill>
                <a:latin typeface="Corben" pitchFamily="34" charset="0"/>
                <a:ea typeface="Corben" pitchFamily="34" charset="-122"/>
                <a:cs typeface="Corben" pitchFamily="34" charset="-120"/>
              </a:rPr>
              <a:t>RooMatch</a:t>
            </a:r>
            <a:endParaRPr lang="en-US" sz="4450" dirty="0"/>
          </a:p>
        </p:txBody>
      </p:sp>
      <p:sp>
        <p:nvSpPr>
          <p:cNvPr id="5" name="Text 2"/>
          <p:cNvSpPr/>
          <p:nvPr/>
        </p:nvSpPr>
        <p:spPr>
          <a:xfrm>
            <a:off x="793790" y="4337328"/>
            <a:ext cx="8016954" cy="354330"/>
          </a:xfrm>
          <a:prstGeom prst="rect">
            <a:avLst/>
          </a:prstGeom>
          <a:noFill/>
          <a:ln/>
        </p:spPr>
        <p:txBody>
          <a:bodyPr wrap="none" lIns="0" tIns="0" rIns="0" bIns="0" rtlCol="0" anchor="t"/>
          <a:lstStyle/>
          <a:p>
            <a:pPr marL="0" indent="0" algn="l" rtl="0">
              <a:lnSpc>
                <a:spcPts val="2750"/>
              </a:lnSpc>
              <a:buNone/>
            </a:pPr>
            <a:r>
              <a:rPr lang="en-US" sz="2200" dirty="0">
                <a:solidFill>
                  <a:srgbClr val="1B1B27"/>
                </a:solidFill>
                <a:latin typeface="Corben" pitchFamily="34" charset="0"/>
                <a:ea typeface="Corben" pitchFamily="34" charset="-122"/>
                <a:cs typeface="Corben" pitchFamily="34" charset="-120"/>
              </a:rPr>
              <a:t>Represented by: Arkadi Doktorovich, Elia Meerson, Shai Gigi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91013"/>
            <a:ext cx="5023247" cy="566976"/>
          </a:xfrm>
          <a:prstGeom prst="rect">
            <a:avLst/>
          </a:prstGeom>
          <a:noFill/>
          <a:ln/>
        </p:spPr>
        <p:txBody>
          <a:bodyPr wrap="none" lIns="0" tIns="0" rIns="0" bIns="0" rtlCol="0" anchor="t"/>
          <a:lstStyle/>
          <a:p>
            <a:pPr marL="0" indent="0" algn="l" rtl="0">
              <a:lnSpc>
                <a:spcPts val="4450"/>
              </a:lnSpc>
              <a:buNone/>
            </a:pPr>
            <a:r>
              <a:rPr lang="en-US" sz="3550" dirty="0">
                <a:solidFill>
                  <a:srgbClr val="1B1B27"/>
                </a:solidFill>
                <a:latin typeface="Corben" pitchFamily="34" charset="0"/>
                <a:ea typeface="Corben" pitchFamily="34" charset="-122"/>
                <a:cs typeface="Corben" pitchFamily="34" charset="-120"/>
              </a:rPr>
              <a:t>Motivation and Novelty</a:t>
            </a:r>
            <a:endParaRPr lang="en-US" sz="3550" dirty="0"/>
          </a:p>
        </p:txBody>
      </p:sp>
      <p:sp>
        <p:nvSpPr>
          <p:cNvPr id="3" name="Text 1"/>
          <p:cNvSpPr/>
          <p:nvPr/>
        </p:nvSpPr>
        <p:spPr>
          <a:xfrm>
            <a:off x="793790" y="3298149"/>
            <a:ext cx="13042821" cy="3157079"/>
          </a:xfrm>
          <a:prstGeom prst="rect">
            <a:avLst/>
          </a:prstGeom>
          <a:noFill/>
          <a:ln/>
        </p:spPr>
        <p:txBody>
          <a:bodyPr wrap="square" lIns="0" tIns="0" rIns="0" bIns="0" rtlCol="0" anchor="t"/>
          <a:lstStyle/>
          <a:p>
            <a:pPr marL="0" indent="0" algn="l" rtl="0">
              <a:lnSpc>
                <a:spcPts val="2850"/>
              </a:lnSpc>
              <a:buNone/>
            </a:pPr>
            <a:r>
              <a:rPr lang="en-US" sz="1750" dirty="0">
                <a:solidFill>
                  <a:srgbClr val="404155"/>
                </a:solidFill>
                <a:latin typeface="Nobile" pitchFamily="34" charset="0"/>
                <a:ea typeface="Nobile" pitchFamily="34" charset="-122"/>
                <a:cs typeface="Nobile" pitchFamily="34" charset="-120"/>
              </a:rPr>
              <a:t>Online real estate and short-term rental platforms often contain duplicate or misleading listings of the same property presented with different furniture, decor, or staging. These appearance changes make it difficult for vision models to recognize that images depict the same physical room.</a:t>
            </a:r>
            <a:endParaRPr lang="en-US" sz="1750" dirty="0"/>
          </a:p>
          <a:p>
            <a:pPr marL="0" indent="0" algn="l" rtl="0">
              <a:lnSpc>
                <a:spcPts val="2850"/>
              </a:lnSpc>
              <a:buNone/>
            </a:pPr>
            <a:br>
              <a:rPr lang="en-US" sz="1750" dirty="0">
                <a:solidFill>
                  <a:srgbClr val="404155"/>
                </a:solidFill>
                <a:latin typeface="Nobile" pitchFamily="34" charset="0"/>
                <a:ea typeface="Nobile" pitchFamily="34" charset="-122"/>
                <a:cs typeface="Nobile" pitchFamily="34" charset="-120"/>
              </a:rPr>
            </a:br>
            <a:endParaRPr lang="en-US" sz="1750" dirty="0">
              <a:solidFill>
                <a:srgbClr val="404155"/>
              </a:solidFill>
              <a:latin typeface="Nobile" pitchFamily="34" charset="0"/>
              <a:ea typeface="Nobile" pitchFamily="34" charset="-122"/>
              <a:cs typeface="Nobile" pitchFamily="34" charset="-120"/>
            </a:endParaRPr>
          </a:p>
          <a:p>
            <a:pPr marL="0" indent="0" algn="l" rtl="0">
              <a:lnSpc>
                <a:spcPts val="2850"/>
              </a:lnSpc>
              <a:buNone/>
            </a:pPr>
            <a:r>
              <a:rPr lang="en-US" sz="1750" dirty="0">
                <a:solidFill>
                  <a:srgbClr val="404155"/>
                </a:solidFill>
                <a:latin typeface="Nobile" pitchFamily="34" charset="0"/>
                <a:ea typeface="Nobile" pitchFamily="34" charset="-122"/>
                <a:cs typeface="Nobile" pitchFamily="34" charset="-120"/>
              </a:rPr>
              <a:t>Since no public dataset captures the same room under controlled interior variations, this project introduces a novel synthetic dataset and retrieval framework that focuses on matching rooms based on invariant spatial and structural cues rather than superficial visual changes.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630400" cy="82296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sz="1440"/>
          </a:p>
        </p:txBody>
      </p:sp>
      <p:sp>
        <p:nvSpPr>
          <p:cNvPr id="3" name="Freeform 3"/>
          <p:cNvSpPr/>
          <p:nvPr/>
        </p:nvSpPr>
        <p:spPr>
          <a:xfrm>
            <a:off x="8151101" y="3793438"/>
            <a:ext cx="1899035" cy="1865416"/>
          </a:xfrm>
          <a:custGeom>
            <a:avLst/>
            <a:gdLst/>
            <a:ahLst/>
            <a:cxnLst/>
            <a:rect l="l" t="t" r="r" b="b"/>
            <a:pathLst>
              <a:path w="2373794" h="2331770">
                <a:moveTo>
                  <a:pt x="0" y="0"/>
                </a:moveTo>
                <a:lnTo>
                  <a:pt x="2373794" y="0"/>
                </a:lnTo>
                <a:lnTo>
                  <a:pt x="2373794" y="2331770"/>
                </a:lnTo>
                <a:lnTo>
                  <a:pt x="0" y="2331770"/>
                </a:lnTo>
                <a:lnTo>
                  <a:pt x="0" y="0"/>
                </a:lnTo>
                <a:close/>
              </a:path>
            </a:pathLst>
          </a:custGeom>
          <a:blipFill>
            <a:blip r:embed="rId3"/>
            <a:stretch>
              <a:fillRect l="-1382" t="-4616" r="-1382"/>
            </a:stretch>
          </a:blipFill>
          <a:ln w="38100" cap="sq">
            <a:solidFill>
              <a:srgbClr val="4C5270"/>
            </a:solidFill>
            <a:prstDash val="solid"/>
            <a:miter/>
          </a:ln>
        </p:spPr>
        <p:txBody>
          <a:bodyPr/>
          <a:lstStyle/>
          <a:p>
            <a:endParaRPr lang="en-US" sz="1440"/>
          </a:p>
        </p:txBody>
      </p:sp>
      <p:sp>
        <p:nvSpPr>
          <p:cNvPr id="4" name="Freeform 4"/>
          <p:cNvSpPr/>
          <p:nvPr/>
        </p:nvSpPr>
        <p:spPr>
          <a:xfrm>
            <a:off x="127221" y="5744966"/>
            <a:ext cx="1873586" cy="1865416"/>
          </a:xfrm>
          <a:custGeom>
            <a:avLst/>
            <a:gdLst/>
            <a:ahLst/>
            <a:cxnLst/>
            <a:rect l="l" t="t" r="r" b="b"/>
            <a:pathLst>
              <a:path w="2341983" h="2331770">
                <a:moveTo>
                  <a:pt x="0" y="0"/>
                </a:moveTo>
                <a:lnTo>
                  <a:pt x="2341983" y="0"/>
                </a:lnTo>
                <a:lnTo>
                  <a:pt x="2341983" y="2331770"/>
                </a:lnTo>
                <a:lnTo>
                  <a:pt x="0" y="2331770"/>
                </a:lnTo>
                <a:lnTo>
                  <a:pt x="0" y="0"/>
                </a:lnTo>
                <a:close/>
              </a:path>
            </a:pathLst>
          </a:custGeom>
          <a:blipFill>
            <a:blip r:embed="rId4"/>
            <a:stretch>
              <a:fillRect l="-2080" t="-4616" r="-2080"/>
            </a:stretch>
          </a:blipFill>
          <a:ln w="38100" cap="sq">
            <a:solidFill>
              <a:srgbClr val="4C5270"/>
            </a:solidFill>
            <a:prstDash val="solid"/>
            <a:miter/>
          </a:ln>
        </p:spPr>
        <p:txBody>
          <a:bodyPr/>
          <a:lstStyle/>
          <a:p>
            <a:endParaRPr lang="en-US" sz="1440"/>
          </a:p>
        </p:txBody>
      </p:sp>
      <p:sp>
        <p:nvSpPr>
          <p:cNvPr id="5" name="Freeform 5"/>
          <p:cNvSpPr/>
          <p:nvPr/>
        </p:nvSpPr>
        <p:spPr>
          <a:xfrm>
            <a:off x="10198304" y="3793438"/>
            <a:ext cx="1873586" cy="1865416"/>
          </a:xfrm>
          <a:custGeom>
            <a:avLst/>
            <a:gdLst/>
            <a:ahLst/>
            <a:cxnLst/>
            <a:rect l="l" t="t" r="r" b="b"/>
            <a:pathLst>
              <a:path w="2341983" h="2331770">
                <a:moveTo>
                  <a:pt x="0" y="0"/>
                </a:moveTo>
                <a:lnTo>
                  <a:pt x="2341983" y="0"/>
                </a:lnTo>
                <a:lnTo>
                  <a:pt x="2341983" y="2331770"/>
                </a:lnTo>
                <a:lnTo>
                  <a:pt x="0" y="2331770"/>
                </a:lnTo>
                <a:lnTo>
                  <a:pt x="0" y="0"/>
                </a:lnTo>
                <a:close/>
              </a:path>
            </a:pathLst>
          </a:custGeom>
          <a:blipFill>
            <a:blip r:embed="rId5"/>
            <a:stretch>
              <a:fillRect l="-2080" t="-4616" r="-2080"/>
            </a:stretch>
          </a:blipFill>
          <a:ln w="38100" cap="sq">
            <a:solidFill>
              <a:srgbClr val="4C5270"/>
            </a:solidFill>
            <a:prstDash val="solid"/>
            <a:miter/>
          </a:ln>
        </p:spPr>
        <p:txBody>
          <a:bodyPr/>
          <a:lstStyle/>
          <a:p>
            <a:endParaRPr lang="en-US" sz="1440"/>
          </a:p>
        </p:txBody>
      </p:sp>
      <p:sp>
        <p:nvSpPr>
          <p:cNvPr id="6" name="Freeform 6"/>
          <p:cNvSpPr/>
          <p:nvPr/>
        </p:nvSpPr>
        <p:spPr>
          <a:xfrm>
            <a:off x="2126482" y="5744966"/>
            <a:ext cx="1868160" cy="1865416"/>
          </a:xfrm>
          <a:custGeom>
            <a:avLst/>
            <a:gdLst/>
            <a:ahLst/>
            <a:cxnLst/>
            <a:rect l="l" t="t" r="r" b="b"/>
            <a:pathLst>
              <a:path w="2335200" h="2331770">
                <a:moveTo>
                  <a:pt x="0" y="0"/>
                </a:moveTo>
                <a:lnTo>
                  <a:pt x="2335201" y="0"/>
                </a:lnTo>
                <a:lnTo>
                  <a:pt x="2335201" y="2331770"/>
                </a:lnTo>
                <a:lnTo>
                  <a:pt x="0" y="2331770"/>
                </a:lnTo>
                <a:lnTo>
                  <a:pt x="0" y="0"/>
                </a:lnTo>
                <a:close/>
              </a:path>
            </a:pathLst>
          </a:custGeom>
          <a:blipFill>
            <a:blip r:embed="rId6"/>
            <a:stretch>
              <a:fillRect l="-2231" t="-4616" r="-2231"/>
            </a:stretch>
          </a:blipFill>
          <a:ln w="38100" cap="sq">
            <a:solidFill>
              <a:srgbClr val="4C5270"/>
            </a:solidFill>
            <a:prstDash val="solid"/>
            <a:miter/>
          </a:ln>
        </p:spPr>
        <p:txBody>
          <a:bodyPr/>
          <a:lstStyle/>
          <a:p>
            <a:endParaRPr lang="en-US" sz="1440"/>
          </a:p>
        </p:txBody>
      </p:sp>
      <p:sp>
        <p:nvSpPr>
          <p:cNvPr id="7" name="Freeform 7"/>
          <p:cNvSpPr/>
          <p:nvPr/>
        </p:nvSpPr>
        <p:spPr>
          <a:xfrm>
            <a:off x="10198304" y="5744966"/>
            <a:ext cx="1951529" cy="1865416"/>
          </a:xfrm>
          <a:custGeom>
            <a:avLst/>
            <a:gdLst/>
            <a:ahLst/>
            <a:cxnLst/>
            <a:rect l="l" t="t" r="r" b="b"/>
            <a:pathLst>
              <a:path w="2439411" h="2331770">
                <a:moveTo>
                  <a:pt x="0" y="0"/>
                </a:moveTo>
                <a:lnTo>
                  <a:pt x="2439411" y="0"/>
                </a:lnTo>
                <a:lnTo>
                  <a:pt x="2439411" y="2331770"/>
                </a:lnTo>
                <a:lnTo>
                  <a:pt x="0" y="2331770"/>
                </a:lnTo>
                <a:lnTo>
                  <a:pt x="0" y="0"/>
                </a:lnTo>
                <a:close/>
              </a:path>
            </a:pathLst>
          </a:custGeom>
          <a:blipFill>
            <a:blip r:embed="rId7"/>
            <a:stretch>
              <a:fillRect b="-4616"/>
            </a:stretch>
          </a:blipFill>
          <a:ln w="38100" cap="sq">
            <a:solidFill>
              <a:srgbClr val="4C5270"/>
            </a:solidFill>
            <a:prstDash val="solid"/>
            <a:miter/>
          </a:ln>
        </p:spPr>
        <p:txBody>
          <a:bodyPr/>
          <a:lstStyle/>
          <a:p>
            <a:endParaRPr lang="en-US" sz="1440"/>
          </a:p>
        </p:txBody>
      </p:sp>
      <p:sp>
        <p:nvSpPr>
          <p:cNvPr id="8" name="Freeform 8"/>
          <p:cNvSpPr/>
          <p:nvPr/>
        </p:nvSpPr>
        <p:spPr>
          <a:xfrm>
            <a:off x="6103899" y="5744966"/>
            <a:ext cx="1951529" cy="1865416"/>
          </a:xfrm>
          <a:custGeom>
            <a:avLst/>
            <a:gdLst/>
            <a:ahLst/>
            <a:cxnLst/>
            <a:rect l="l" t="t" r="r" b="b"/>
            <a:pathLst>
              <a:path w="2373794" h="2277950">
                <a:moveTo>
                  <a:pt x="0" y="0"/>
                </a:moveTo>
                <a:lnTo>
                  <a:pt x="2373794" y="0"/>
                </a:lnTo>
                <a:lnTo>
                  <a:pt x="2373794" y="2277949"/>
                </a:lnTo>
                <a:lnTo>
                  <a:pt x="0" y="2277949"/>
                </a:lnTo>
                <a:lnTo>
                  <a:pt x="0" y="0"/>
                </a:lnTo>
                <a:close/>
              </a:path>
            </a:pathLst>
          </a:custGeom>
          <a:blipFill>
            <a:blip r:embed="rId8"/>
            <a:stretch>
              <a:fillRect t="-4207"/>
            </a:stretch>
          </a:blipFill>
          <a:ln w="38100" cap="sq">
            <a:solidFill>
              <a:srgbClr val="4C5270"/>
            </a:solidFill>
            <a:prstDash val="solid"/>
            <a:miter/>
          </a:ln>
        </p:spPr>
        <p:txBody>
          <a:bodyPr/>
          <a:lstStyle/>
          <a:p>
            <a:endParaRPr lang="en-US" sz="1440"/>
          </a:p>
        </p:txBody>
      </p:sp>
      <p:sp>
        <p:nvSpPr>
          <p:cNvPr id="9" name="Freeform 9"/>
          <p:cNvSpPr/>
          <p:nvPr/>
        </p:nvSpPr>
        <p:spPr>
          <a:xfrm>
            <a:off x="12271753" y="3793438"/>
            <a:ext cx="1873586" cy="1865416"/>
          </a:xfrm>
          <a:custGeom>
            <a:avLst/>
            <a:gdLst/>
            <a:ahLst/>
            <a:cxnLst/>
            <a:rect l="l" t="t" r="r" b="b"/>
            <a:pathLst>
              <a:path w="2341983" h="2331770">
                <a:moveTo>
                  <a:pt x="0" y="0"/>
                </a:moveTo>
                <a:lnTo>
                  <a:pt x="2341983" y="0"/>
                </a:lnTo>
                <a:lnTo>
                  <a:pt x="2341983" y="2331770"/>
                </a:lnTo>
                <a:lnTo>
                  <a:pt x="0" y="2331770"/>
                </a:lnTo>
                <a:lnTo>
                  <a:pt x="0" y="0"/>
                </a:lnTo>
                <a:close/>
              </a:path>
            </a:pathLst>
          </a:custGeom>
          <a:blipFill>
            <a:blip r:embed="rId9"/>
            <a:stretch>
              <a:fillRect t="-437"/>
            </a:stretch>
          </a:blipFill>
          <a:ln w="38100" cap="sq">
            <a:solidFill>
              <a:srgbClr val="4C5270"/>
            </a:solidFill>
            <a:prstDash val="solid"/>
            <a:miter/>
          </a:ln>
        </p:spPr>
        <p:txBody>
          <a:bodyPr/>
          <a:lstStyle/>
          <a:p>
            <a:endParaRPr lang="en-US" sz="1440"/>
          </a:p>
        </p:txBody>
      </p:sp>
      <p:sp>
        <p:nvSpPr>
          <p:cNvPr id="10" name="Freeform 10"/>
          <p:cNvSpPr/>
          <p:nvPr/>
        </p:nvSpPr>
        <p:spPr>
          <a:xfrm>
            <a:off x="12271752" y="5744966"/>
            <a:ext cx="1865416" cy="1865416"/>
          </a:xfrm>
          <a:custGeom>
            <a:avLst/>
            <a:gdLst/>
            <a:ahLst/>
            <a:cxnLst/>
            <a:rect l="l" t="t" r="r" b="b"/>
            <a:pathLst>
              <a:path w="2331770" h="2331770">
                <a:moveTo>
                  <a:pt x="0" y="0"/>
                </a:moveTo>
                <a:lnTo>
                  <a:pt x="2331770" y="0"/>
                </a:lnTo>
                <a:lnTo>
                  <a:pt x="2331770" y="2331770"/>
                </a:lnTo>
                <a:lnTo>
                  <a:pt x="0" y="2331770"/>
                </a:lnTo>
                <a:lnTo>
                  <a:pt x="0" y="0"/>
                </a:lnTo>
                <a:close/>
              </a:path>
            </a:pathLst>
          </a:custGeom>
          <a:blipFill>
            <a:blip r:embed="rId10"/>
            <a:stretch>
              <a:fillRect/>
            </a:stretch>
          </a:blipFill>
          <a:ln w="38100" cap="sq">
            <a:solidFill>
              <a:srgbClr val="4C5270"/>
            </a:solidFill>
            <a:prstDash val="solid"/>
            <a:miter/>
          </a:ln>
        </p:spPr>
        <p:txBody>
          <a:bodyPr/>
          <a:lstStyle/>
          <a:p>
            <a:endParaRPr lang="en-US" sz="1440"/>
          </a:p>
        </p:txBody>
      </p:sp>
      <p:sp>
        <p:nvSpPr>
          <p:cNvPr id="11" name="Freeform 11"/>
          <p:cNvSpPr/>
          <p:nvPr/>
        </p:nvSpPr>
        <p:spPr>
          <a:xfrm>
            <a:off x="4116563" y="5744966"/>
            <a:ext cx="1865416" cy="1865416"/>
          </a:xfrm>
          <a:custGeom>
            <a:avLst/>
            <a:gdLst/>
            <a:ahLst/>
            <a:cxnLst/>
            <a:rect l="l" t="t" r="r" b="b"/>
            <a:pathLst>
              <a:path w="2331770" h="2331770">
                <a:moveTo>
                  <a:pt x="0" y="0"/>
                </a:moveTo>
                <a:lnTo>
                  <a:pt x="2331770" y="0"/>
                </a:lnTo>
                <a:lnTo>
                  <a:pt x="2331770" y="2331770"/>
                </a:lnTo>
                <a:lnTo>
                  <a:pt x="0" y="2331770"/>
                </a:lnTo>
                <a:lnTo>
                  <a:pt x="0" y="0"/>
                </a:lnTo>
                <a:close/>
              </a:path>
            </a:pathLst>
          </a:custGeom>
          <a:blipFill>
            <a:blip r:embed="rId11"/>
            <a:stretch>
              <a:fillRect/>
            </a:stretch>
          </a:blipFill>
          <a:ln w="38100" cap="sq">
            <a:solidFill>
              <a:srgbClr val="4C5270"/>
            </a:solidFill>
            <a:prstDash val="solid"/>
            <a:miter/>
          </a:ln>
        </p:spPr>
        <p:txBody>
          <a:bodyPr/>
          <a:lstStyle/>
          <a:p>
            <a:endParaRPr lang="en-US" sz="1440"/>
          </a:p>
        </p:txBody>
      </p:sp>
      <p:sp>
        <p:nvSpPr>
          <p:cNvPr id="12" name="Freeform 12"/>
          <p:cNvSpPr/>
          <p:nvPr/>
        </p:nvSpPr>
        <p:spPr>
          <a:xfrm>
            <a:off x="8124855" y="5744966"/>
            <a:ext cx="1951529" cy="1865416"/>
          </a:xfrm>
          <a:custGeom>
            <a:avLst/>
            <a:gdLst/>
            <a:ahLst/>
            <a:cxnLst/>
            <a:rect l="l" t="t" r="r" b="b"/>
            <a:pathLst>
              <a:path w="2439411" h="2331770">
                <a:moveTo>
                  <a:pt x="0" y="0"/>
                </a:moveTo>
                <a:lnTo>
                  <a:pt x="2439411" y="0"/>
                </a:lnTo>
                <a:lnTo>
                  <a:pt x="2439411" y="2331770"/>
                </a:lnTo>
                <a:lnTo>
                  <a:pt x="0" y="2331770"/>
                </a:lnTo>
                <a:lnTo>
                  <a:pt x="0" y="0"/>
                </a:lnTo>
                <a:close/>
              </a:path>
            </a:pathLst>
          </a:custGeom>
          <a:blipFill>
            <a:blip r:embed="rId12"/>
            <a:stretch>
              <a:fillRect t="-4616"/>
            </a:stretch>
          </a:blipFill>
          <a:ln w="38100" cap="sq">
            <a:solidFill>
              <a:srgbClr val="4C5270"/>
            </a:solidFill>
            <a:prstDash val="solid"/>
            <a:miter/>
          </a:ln>
        </p:spPr>
        <p:txBody>
          <a:bodyPr/>
          <a:lstStyle/>
          <a:p>
            <a:endParaRPr lang="en-US" sz="1440"/>
          </a:p>
        </p:txBody>
      </p:sp>
      <p:sp>
        <p:nvSpPr>
          <p:cNvPr id="13" name="Freeform 13"/>
          <p:cNvSpPr/>
          <p:nvPr/>
        </p:nvSpPr>
        <p:spPr>
          <a:xfrm>
            <a:off x="127221" y="822960"/>
            <a:ext cx="7825760" cy="4835894"/>
          </a:xfrm>
          <a:custGeom>
            <a:avLst/>
            <a:gdLst/>
            <a:ahLst/>
            <a:cxnLst/>
            <a:rect l="l" t="t" r="r" b="b"/>
            <a:pathLst>
              <a:path w="9782200" h="6044867">
                <a:moveTo>
                  <a:pt x="0" y="0"/>
                </a:moveTo>
                <a:lnTo>
                  <a:pt x="9782200" y="0"/>
                </a:lnTo>
                <a:lnTo>
                  <a:pt x="9782200" y="6044867"/>
                </a:lnTo>
                <a:lnTo>
                  <a:pt x="0" y="6044867"/>
                </a:lnTo>
                <a:lnTo>
                  <a:pt x="0" y="0"/>
                </a:lnTo>
                <a:close/>
              </a:path>
            </a:pathLst>
          </a:custGeom>
          <a:blipFill>
            <a:blip r:embed="rId13"/>
            <a:stretch>
              <a:fillRect l="-361" t="-1734" b="-20073"/>
            </a:stretch>
          </a:blipFill>
          <a:ln w="47625" cap="rnd">
            <a:solidFill>
              <a:srgbClr val="4C5270"/>
            </a:solidFill>
            <a:prstDash val="solid"/>
            <a:round/>
          </a:ln>
        </p:spPr>
        <p:txBody>
          <a:bodyPr/>
          <a:lstStyle/>
          <a:p>
            <a:endParaRPr lang="en-US" sz="1440"/>
          </a:p>
        </p:txBody>
      </p:sp>
      <p:sp>
        <p:nvSpPr>
          <p:cNvPr id="14" name="TextBox 14"/>
          <p:cNvSpPr txBox="1"/>
          <p:nvPr/>
        </p:nvSpPr>
        <p:spPr>
          <a:xfrm>
            <a:off x="243248" y="454347"/>
            <a:ext cx="1883234" cy="333874"/>
          </a:xfrm>
          <a:prstGeom prst="rect">
            <a:avLst/>
          </a:prstGeom>
        </p:spPr>
        <p:txBody>
          <a:bodyPr wrap="square" lIns="0" tIns="0" rIns="0" bIns="0" rtlCol="0" anchor="t">
            <a:spAutoFit/>
          </a:bodyPr>
          <a:lstStyle/>
          <a:p>
            <a:pPr algn="ctr" rtl="0">
              <a:lnSpc>
                <a:spcPts val="2827"/>
              </a:lnSpc>
              <a:spcBef>
                <a:spcPct val="0"/>
              </a:spcBef>
            </a:pPr>
            <a:r>
              <a:rPr lang="en-US" sz="2175" dirty="0">
                <a:solidFill>
                  <a:srgbClr val="4C5270"/>
                </a:solidFill>
                <a:latin typeface="Georgia"/>
                <a:ea typeface="Georgia"/>
                <a:cs typeface="Georgia"/>
                <a:sym typeface="Georgia"/>
              </a:rPr>
              <a:t>Real Image:</a:t>
            </a:r>
          </a:p>
        </p:txBody>
      </p:sp>
      <p:sp>
        <p:nvSpPr>
          <p:cNvPr id="15" name="TextBox 15"/>
          <p:cNvSpPr txBox="1"/>
          <p:nvPr/>
        </p:nvSpPr>
        <p:spPr>
          <a:xfrm>
            <a:off x="8391696" y="3424824"/>
            <a:ext cx="2569369" cy="333874"/>
          </a:xfrm>
          <a:prstGeom prst="rect">
            <a:avLst/>
          </a:prstGeom>
        </p:spPr>
        <p:txBody>
          <a:bodyPr lIns="0" tIns="0" rIns="0" bIns="0" rtlCol="0" anchor="t">
            <a:spAutoFit/>
          </a:bodyPr>
          <a:lstStyle/>
          <a:p>
            <a:pPr algn="l" rtl="0">
              <a:lnSpc>
                <a:spcPts val="2827"/>
              </a:lnSpc>
              <a:spcBef>
                <a:spcPct val="0"/>
              </a:spcBef>
            </a:pPr>
            <a:r>
              <a:rPr lang="en-US" sz="2175" dirty="0">
                <a:solidFill>
                  <a:srgbClr val="4C5270"/>
                </a:solidFill>
                <a:latin typeface="Georgia"/>
                <a:ea typeface="Georgia"/>
                <a:cs typeface="Georgia"/>
                <a:sym typeface="Georgia"/>
              </a:rPr>
              <a:t>Generated Synthetic:</a:t>
            </a:r>
          </a:p>
        </p:txBody>
      </p:sp>
      <p:sp>
        <p:nvSpPr>
          <p:cNvPr id="16" name="TextBox 16"/>
          <p:cNvSpPr txBox="1"/>
          <p:nvPr/>
        </p:nvSpPr>
        <p:spPr>
          <a:xfrm>
            <a:off x="9004470" y="1546451"/>
            <a:ext cx="4339196" cy="1261756"/>
          </a:xfrm>
          <a:prstGeom prst="rect">
            <a:avLst/>
          </a:prstGeom>
        </p:spPr>
        <p:txBody>
          <a:bodyPr lIns="0" tIns="0" rIns="0" bIns="0" rtlCol="0" anchor="t">
            <a:spAutoFit/>
          </a:bodyPr>
          <a:lstStyle/>
          <a:p>
            <a:pPr algn="ctr" rtl="0">
              <a:lnSpc>
                <a:spcPts val="5133"/>
              </a:lnSpc>
              <a:spcBef>
                <a:spcPct val="0"/>
              </a:spcBef>
            </a:pPr>
            <a:r>
              <a:rPr lang="en-US" sz="3948" b="1" dirty="0">
                <a:solidFill>
                  <a:srgbClr val="4C5270"/>
                </a:solidFill>
                <a:latin typeface="Georgia Bold"/>
                <a:ea typeface="Georgia Bold"/>
                <a:cs typeface="Georgia Bold"/>
                <a:sym typeface="Georgia Bold"/>
              </a:rPr>
              <a:t>Dataset Example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369457" y="671512"/>
            <a:ext cx="4287203" cy="469940"/>
          </a:xfrm>
          <a:prstGeom prst="rect">
            <a:avLst/>
          </a:prstGeom>
          <a:noFill/>
          <a:ln/>
        </p:spPr>
        <p:txBody>
          <a:bodyPr wrap="none" lIns="0" tIns="0" rIns="0" bIns="0" rtlCol="0" anchor="t"/>
          <a:lstStyle/>
          <a:p>
            <a:pPr marL="0" indent="0" algn="l" rtl="0">
              <a:lnSpc>
                <a:spcPts val="3700"/>
              </a:lnSpc>
              <a:buNone/>
            </a:pPr>
            <a:r>
              <a:rPr lang="en-US" sz="2950" dirty="0">
                <a:solidFill>
                  <a:srgbClr val="1B1B27"/>
                </a:solidFill>
                <a:latin typeface="Corben" pitchFamily="34" charset="0"/>
                <a:ea typeface="Corben" pitchFamily="34" charset="-122"/>
                <a:cs typeface="Corben" pitchFamily="34" charset="-120"/>
              </a:rPr>
              <a:t>Room Matching Dataset</a:t>
            </a:r>
            <a:endParaRPr lang="en-US" sz="2950" dirty="0"/>
          </a:p>
        </p:txBody>
      </p:sp>
      <p:sp>
        <p:nvSpPr>
          <p:cNvPr id="3" name="Shape 1"/>
          <p:cNvSpPr/>
          <p:nvPr/>
        </p:nvSpPr>
        <p:spPr>
          <a:xfrm>
            <a:off x="1369457" y="1517452"/>
            <a:ext cx="5851684" cy="2854047"/>
          </a:xfrm>
          <a:prstGeom prst="roundRect">
            <a:avLst>
              <a:gd name="adj" fmla="val 2346"/>
            </a:avLst>
          </a:prstGeom>
          <a:solidFill>
            <a:srgbClr val="F9F9FF">
              <a:alpha val="95000"/>
            </a:srgbClr>
          </a:solidFill>
          <a:ln w="22860">
            <a:solidFill>
              <a:srgbClr val="B8BFDF"/>
            </a:solidFill>
            <a:prstDash val="solid"/>
          </a:ln>
        </p:spPr>
        <p:txBody>
          <a:bodyPr/>
          <a:lstStyle/>
          <a:p>
            <a:endParaRPr lang="en-US"/>
          </a:p>
        </p:txBody>
      </p:sp>
      <p:sp>
        <p:nvSpPr>
          <p:cNvPr id="4" name="Text 2"/>
          <p:cNvSpPr/>
          <p:nvPr/>
        </p:nvSpPr>
        <p:spPr>
          <a:xfrm>
            <a:off x="1580317" y="1728311"/>
            <a:ext cx="2985254" cy="293727"/>
          </a:xfrm>
          <a:prstGeom prst="rect">
            <a:avLst/>
          </a:prstGeom>
          <a:noFill/>
          <a:ln/>
        </p:spPr>
        <p:txBody>
          <a:bodyPr wrap="none" lIns="0" tIns="0" rIns="0" bIns="0" rtlCol="0" anchor="t"/>
          <a:lstStyle/>
          <a:p>
            <a:pPr marL="0" indent="0" algn="l" rtl="0">
              <a:lnSpc>
                <a:spcPts val="2300"/>
              </a:lnSpc>
              <a:buNone/>
            </a:pPr>
            <a:r>
              <a:rPr lang="en-US" sz="1850" b="1" u="sng" dirty="0">
                <a:solidFill>
                  <a:srgbClr val="404155"/>
                </a:solidFill>
                <a:latin typeface="Corben" pitchFamily="34" charset="0"/>
                <a:ea typeface="Corben" pitchFamily="34" charset="-122"/>
                <a:cs typeface="Corben" pitchFamily="34" charset="-120"/>
              </a:rPr>
              <a:t>Dataset Description</a:t>
            </a:r>
            <a:endParaRPr lang="en-US" sz="1850" dirty="0"/>
          </a:p>
        </p:txBody>
      </p:sp>
      <p:sp>
        <p:nvSpPr>
          <p:cNvPr id="5" name="Text 3"/>
          <p:cNvSpPr/>
          <p:nvPr/>
        </p:nvSpPr>
        <p:spPr>
          <a:xfrm>
            <a:off x="1580317" y="2134791"/>
            <a:ext cx="5429964" cy="601504"/>
          </a:xfrm>
          <a:prstGeom prst="rect">
            <a:avLst/>
          </a:prstGeom>
          <a:noFill/>
          <a:ln/>
        </p:spPr>
        <p:txBody>
          <a:bodyPr wrap="square" lIns="0" tIns="0" rIns="0" bIns="0" rtlCol="0" anchor="t"/>
          <a:lstStyle/>
          <a:p>
            <a:pPr marL="342900" indent="-342900" algn="l" rtl="0">
              <a:lnSpc>
                <a:spcPts val="2350"/>
              </a:lnSpc>
              <a:buSzPct val="100000"/>
              <a:buChar char="•"/>
            </a:pPr>
            <a:r>
              <a:rPr lang="en-US" sz="1450" dirty="0">
                <a:solidFill>
                  <a:srgbClr val="404155"/>
                </a:solidFill>
                <a:latin typeface="Nobile" pitchFamily="34" charset="0"/>
                <a:ea typeface="Nobile" pitchFamily="34" charset="-122"/>
                <a:cs typeface="Nobile" pitchFamily="34" charset="-120"/>
              </a:rPr>
              <a:t>The dataset contains </a:t>
            </a:r>
            <a:r>
              <a:rPr lang="en-US" sz="1450" b="1" dirty="0">
                <a:solidFill>
                  <a:srgbClr val="404155"/>
                </a:solidFill>
                <a:latin typeface="Nobile" pitchFamily="34" charset="0"/>
                <a:ea typeface="Nobile" pitchFamily="34" charset="-122"/>
                <a:cs typeface="Nobile" pitchFamily="34" charset="-120"/>
              </a:rPr>
              <a:t>1000</a:t>
            </a:r>
            <a:r>
              <a:rPr lang="en-US" sz="1450" dirty="0">
                <a:solidFill>
                  <a:srgbClr val="404155"/>
                </a:solidFill>
                <a:latin typeface="Nobile" pitchFamily="34" charset="0"/>
                <a:ea typeface="Nobile" pitchFamily="34" charset="-122"/>
                <a:cs typeface="Nobile" pitchFamily="34" charset="-120"/>
              </a:rPr>
              <a:t> real room images collected from various sources.</a:t>
            </a:r>
            <a:endParaRPr lang="en-US" sz="1450" dirty="0"/>
          </a:p>
        </p:txBody>
      </p:sp>
      <p:sp>
        <p:nvSpPr>
          <p:cNvPr id="6" name="Text 4"/>
          <p:cNvSpPr/>
          <p:nvPr/>
        </p:nvSpPr>
        <p:spPr>
          <a:xfrm>
            <a:off x="1580317" y="2802017"/>
            <a:ext cx="5429964" cy="902256"/>
          </a:xfrm>
          <a:prstGeom prst="rect">
            <a:avLst/>
          </a:prstGeom>
          <a:noFill/>
          <a:ln/>
        </p:spPr>
        <p:txBody>
          <a:bodyPr wrap="square" lIns="0" tIns="0" rIns="0" bIns="0" rtlCol="0" anchor="t"/>
          <a:lstStyle/>
          <a:p>
            <a:pPr marL="342900" indent="-342900" algn="l" rtl="0">
              <a:lnSpc>
                <a:spcPts val="2350"/>
              </a:lnSpc>
              <a:buSzPct val="100000"/>
              <a:buChar char="•"/>
            </a:pPr>
            <a:r>
              <a:rPr lang="en-US" sz="1450" dirty="0">
                <a:solidFill>
                  <a:srgbClr val="404155"/>
                </a:solidFill>
                <a:latin typeface="Nobile" pitchFamily="34" charset="0"/>
                <a:ea typeface="Nobile" pitchFamily="34" charset="-122"/>
                <a:cs typeface="Nobile" pitchFamily="34" charset="-120"/>
              </a:rPr>
              <a:t>For each real room image </a:t>
            </a:r>
            <a:r>
              <a:rPr lang="en-US" sz="1450" b="1" dirty="0">
                <a:solidFill>
                  <a:srgbClr val="404155"/>
                </a:solidFill>
                <a:latin typeface="Nobile" pitchFamily="34" charset="0"/>
                <a:ea typeface="Nobile" pitchFamily="34" charset="-122"/>
                <a:cs typeface="Nobile" pitchFamily="34" charset="-120"/>
              </a:rPr>
              <a:t>10</a:t>
            </a:r>
            <a:r>
              <a:rPr lang="en-US" sz="1450" dirty="0">
                <a:solidFill>
                  <a:srgbClr val="404155"/>
                </a:solidFill>
                <a:latin typeface="Nobile" pitchFamily="34" charset="0"/>
                <a:ea typeface="Nobile" pitchFamily="34" charset="-122"/>
                <a:cs typeface="Nobile" pitchFamily="34" charset="-120"/>
              </a:rPr>
              <a:t> synthetic variants were generated with </a:t>
            </a:r>
            <a:r>
              <a:rPr lang="en-US" sz="1450" b="1" dirty="0">
                <a:solidFill>
                  <a:srgbClr val="404155"/>
                </a:solidFill>
                <a:latin typeface="Nobile" pitchFamily="34" charset="0"/>
                <a:ea typeface="Nobile" pitchFamily="34" charset="-122"/>
                <a:cs typeface="Nobile" pitchFamily="34" charset="-120"/>
              </a:rPr>
              <a:t>Stable Diffusion Inpainting</a:t>
            </a:r>
            <a:r>
              <a:rPr lang="en-US" sz="1450" dirty="0">
                <a:solidFill>
                  <a:srgbClr val="404155"/>
                </a:solidFill>
                <a:latin typeface="Nobile" pitchFamily="34" charset="0"/>
                <a:ea typeface="Nobile" pitchFamily="34" charset="-122"/>
                <a:cs typeface="Nobile" pitchFamily="34" charset="-120"/>
              </a:rPr>
              <a:t> to increase diversity while preserving the same room layout.</a:t>
            </a:r>
            <a:endParaRPr lang="en-US" sz="1450" dirty="0"/>
          </a:p>
        </p:txBody>
      </p:sp>
      <p:sp>
        <p:nvSpPr>
          <p:cNvPr id="7" name="Text 5"/>
          <p:cNvSpPr/>
          <p:nvPr/>
        </p:nvSpPr>
        <p:spPr>
          <a:xfrm>
            <a:off x="1580317" y="3769995"/>
            <a:ext cx="5429964" cy="601504"/>
          </a:xfrm>
          <a:prstGeom prst="rect">
            <a:avLst/>
          </a:prstGeom>
          <a:noFill/>
          <a:ln/>
        </p:spPr>
        <p:txBody>
          <a:bodyPr wrap="square" lIns="0" tIns="0" rIns="0" bIns="0" rtlCol="0" anchor="t"/>
          <a:lstStyle/>
          <a:p>
            <a:pPr marL="342900" indent="-342900" algn="l" rtl="0">
              <a:lnSpc>
                <a:spcPts val="2350"/>
              </a:lnSpc>
              <a:buSzPct val="100000"/>
              <a:buChar char="•"/>
            </a:pPr>
            <a:r>
              <a:rPr lang="en-US" sz="1450" dirty="0">
                <a:solidFill>
                  <a:srgbClr val="404155"/>
                </a:solidFill>
                <a:latin typeface="Nobile" pitchFamily="34" charset="0"/>
                <a:ea typeface="Nobile" pitchFamily="34" charset="-122"/>
                <a:cs typeface="Nobile" pitchFamily="34" charset="-120"/>
              </a:rPr>
              <a:t>Each image is assigned a </a:t>
            </a:r>
            <a:r>
              <a:rPr lang="en-US" sz="1450" b="1" dirty="0">
                <a:solidFill>
                  <a:srgbClr val="404155"/>
                </a:solidFill>
                <a:latin typeface="Nobile" pitchFamily="34" charset="0"/>
                <a:ea typeface="Nobile" pitchFamily="34" charset="-122"/>
                <a:cs typeface="Nobile" pitchFamily="34" charset="-120"/>
              </a:rPr>
              <a:t>room ID</a:t>
            </a:r>
            <a:r>
              <a:rPr lang="en-US" sz="1450" dirty="0">
                <a:solidFill>
                  <a:srgbClr val="404155"/>
                </a:solidFill>
                <a:latin typeface="Nobile" pitchFamily="34" charset="0"/>
                <a:ea typeface="Nobile" pitchFamily="34" charset="-122"/>
                <a:cs typeface="Nobile" pitchFamily="34" charset="-120"/>
              </a:rPr>
              <a:t>, which acts as the ground truth for evaluation.</a:t>
            </a:r>
            <a:endParaRPr lang="en-US" sz="1450" dirty="0"/>
          </a:p>
        </p:txBody>
      </p:sp>
      <p:sp>
        <p:nvSpPr>
          <p:cNvPr id="8" name="Shape 6"/>
          <p:cNvSpPr/>
          <p:nvPr/>
        </p:nvSpPr>
        <p:spPr>
          <a:xfrm>
            <a:off x="7409140" y="1517452"/>
            <a:ext cx="5851803" cy="2854047"/>
          </a:xfrm>
          <a:prstGeom prst="roundRect">
            <a:avLst>
              <a:gd name="adj" fmla="val 2346"/>
            </a:avLst>
          </a:prstGeom>
          <a:solidFill>
            <a:srgbClr val="F9F9FF">
              <a:alpha val="95000"/>
            </a:srgbClr>
          </a:solidFill>
          <a:ln w="22860">
            <a:solidFill>
              <a:srgbClr val="B8BFDF"/>
            </a:solidFill>
            <a:prstDash val="solid"/>
          </a:ln>
        </p:spPr>
        <p:txBody>
          <a:bodyPr/>
          <a:lstStyle/>
          <a:p>
            <a:endParaRPr lang="en-US"/>
          </a:p>
        </p:txBody>
      </p:sp>
      <p:sp>
        <p:nvSpPr>
          <p:cNvPr id="9" name="Text 7"/>
          <p:cNvSpPr/>
          <p:nvPr/>
        </p:nvSpPr>
        <p:spPr>
          <a:xfrm>
            <a:off x="7620000" y="1728311"/>
            <a:ext cx="3376612" cy="293727"/>
          </a:xfrm>
          <a:prstGeom prst="rect">
            <a:avLst/>
          </a:prstGeom>
          <a:noFill/>
          <a:ln/>
        </p:spPr>
        <p:txBody>
          <a:bodyPr wrap="none" lIns="0" tIns="0" rIns="0" bIns="0" rtlCol="0" anchor="t"/>
          <a:lstStyle/>
          <a:p>
            <a:pPr marL="0" indent="0" algn="l" rtl="0">
              <a:lnSpc>
                <a:spcPts val="2300"/>
              </a:lnSpc>
              <a:buNone/>
            </a:pPr>
            <a:r>
              <a:rPr lang="en-US" sz="1850" b="1" u="sng" dirty="0">
                <a:solidFill>
                  <a:srgbClr val="404155"/>
                </a:solidFill>
                <a:latin typeface="Corben" pitchFamily="34" charset="0"/>
                <a:ea typeface="Corben" pitchFamily="34" charset="-122"/>
                <a:cs typeface="Corben" pitchFamily="34" charset="-120"/>
              </a:rPr>
              <a:t>Dataset Preprocessing</a:t>
            </a:r>
            <a:endParaRPr lang="en-US" sz="1850" dirty="0"/>
          </a:p>
        </p:txBody>
      </p:sp>
      <p:sp>
        <p:nvSpPr>
          <p:cNvPr id="10" name="Text 8"/>
          <p:cNvSpPr/>
          <p:nvPr/>
        </p:nvSpPr>
        <p:spPr>
          <a:xfrm>
            <a:off x="7620000" y="2134791"/>
            <a:ext cx="5430083" cy="902256"/>
          </a:xfrm>
          <a:prstGeom prst="rect">
            <a:avLst/>
          </a:prstGeom>
          <a:noFill/>
          <a:ln/>
        </p:spPr>
        <p:txBody>
          <a:bodyPr wrap="square" lIns="0" tIns="0" rIns="0" bIns="0" rtlCol="0" anchor="t"/>
          <a:lstStyle/>
          <a:p>
            <a:pPr marL="342900" indent="-342900" algn="l" rtl="0">
              <a:lnSpc>
                <a:spcPts val="2350"/>
              </a:lnSpc>
              <a:buSzPct val="100000"/>
              <a:buChar char="•"/>
            </a:pPr>
            <a:r>
              <a:rPr lang="en-US" sz="1450" dirty="0">
                <a:solidFill>
                  <a:srgbClr val="404155"/>
                </a:solidFill>
                <a:latin typeface="Nobile" pitchFamily="34" charset="0"/>
                <a:ea typeface="Nobile" pitchFamily="34" charset="-122"/>
                <a:cs typeface="Nobile" pitchFamily="34" charset="-120"/>
              </a:rPr>
              <a:t>All images are converted to </a:t>
            </a:r>
            <a:r>
              <a:rPr lang="en-US" sz="1450" b="1" dirty="0">
                <a:solidFill>
                  <a:srgbClr val="404155"/>
                </a:solidFill>
                <a:latin typeface="Nobile" pitchFamily="34" charset="0"/>
                <a:ea typeface="Nobile" pitchFamily="34" charset="-122"/>
                <a:cs typeface="Nobile" pitchFamily="34" charset="-120"/>
              </a:rPr>
              <a:t>RGB</a:t>
            </a:r>
            <a:r>
              <a:rPr lang="en-US" sz="1450" dirty="0">
                <a:solidFill>
                  <a:srgbClr val="404155"/>
                </a:solidFill>
                <a:latin typeface="Nobile" pitchFamily="34" charset="0"/>
                <a:ea typeface="Nobile" pitchFamily="34" charset="-122"/>
                <a:cs typeface="Nobile" pitchFamily="34" charset="-120"/>
              </a:rPr>
              <a:t> and resized to a fixed resolution of </a:t>
            </a:r>
            <a:r>
              <a:rPr lang="en-US" sz="1450" b="1" dirty="0">
                <a:solidFill>
                  <a:srgbClr val="404155"/>
                </a:solidFill>
                <a:latin typeface="Nobile" pitchFamily="34" charset="0"/>
                <a:ea typeface="Nobile" pitchFamily="34" charset="-122"/>
                <a:cs typeface="Nobile" pitchFamily="34" charset="-120"/>
              </a:rPr>
              <a:t>512×512 pixels</a:t>
            </a:r>
            <a:r>
              <a:rPr lang="en-US" sz="1450" dirty="0">
                <a:solidFill>
                  <a:srgbClr val="404155"/>
                </a:solidFill>
                <a:latin typeface="Nobile" pitchFamily="34" charset="0"/>
                <a:ea typeface="Nobile" pitchFamily="34" charset="-122"/>
                <a:cs typeface="Nobile" pitchFamily="34" charset="-120"/>
              </a:rPr>
              <a:t> to ensure consistency across the dataset.</a:t>
            </a:r>
            <a:endParaRPr lang="en-US" sz="1450" dirty="0"/>
          </a:p>
        </p:txBody>
      </p:sp>
      <p:sp>
        <p:nvSpPr>
          <p:cNvPr id="11" name="Text 9"/>
          <p:cNvSpPr/>
          <p:nvPr/>
        </p:nvSpPr>
        <p:spPr>
          <a:xfrm>
            <a:off x="7620000" y="3102769"/>
            <a:ext cx="5430083" cy="902256"/>
          </a:xfrm>
          <a:prstGeom prst="rect">
            <a:avLst/>
          </a:prstGeom>
          <a:noFill/>
          <a:ln/>
        </p:spPr>
        <p:txBody>
          <a:bodyPr wrap="square" lIns="0" tIns="0" rIns="0" bIns="0" rtlCol="0" anchor="t"/>
          <a:lstStyle/>
          <a:p>
            <a:pPr marL="342900" indent="-342900" algn="l" rtl="0">
              <a:lnSpc>
                <a:spcPts val="2350"/>
              </a:lnSpc>
              <a:buSzPct val="100000"/>
              <a:buChar char="•"/>
            </a:pPr>
            <a:r>
              <a:rPr lang="en-US" sz="1450" b="1" dirty="0">
                <a:solidFill>
                  <a:srgbClr val="404155"/>
                </a:solidFill>
                <a:latin typeface="Nobile" pitchFamily="34" charset="0"/>
                <a:ea typeface="Nobile" pitchFamily="34" charset="-122"/>
                <a:cs typeface="Nobile" pitchFamily="34" charset="-120"/>
              </a:rPr>
              <a:t>Random inpainting masks</a:t>
            </a:r>
            <a:r>
              <a:rPr lang="en-US" sz="1450" dirty="0">
                <a:solidFill>
                  <a:srgbClr val="404155"/>
                </a:solidFill>
                <a:latin typeface="Nobile" pitchFamily="34" charset="0"/>
                <a:ea typeface="Nobile" pitchFamily="34" charset="-122"/>
                <a:cs typeface="Nobile" pitchFamily="34" charset="-120"/>
              </a:rPr>
              <a:t> focus on central and lower regions of the image, where furniture and decor typically appear.</a:t>
            </a:r>
            <a:endParaRPr lang="en-US" sz="1450" dirty="0"/>
          </a:p>
        </p:txBody>
      </p:sp>
      <p:sp>
        <p:nvSpPr>
          <p:cNvPr id="12" name="Text 10"/>
          <p:cNvSpPr/>
          <p:nvPr/>
        </p:nvSpPr>
        <p:spPr>
          <a:xfrm>
            <a:off x="7620000" y="4070747"/>
            <a:ext cx="5430083" cy="601504"/>
          </a:xfrm>
          <a:prstGeom prst="rect">
            <a:avLst/>
          </a:prstGeom>
          <a:noFill/>
          <a:ln/>
        </p:spPr>
        <p:txBody>
          <a:bodyPr wrap="square" lIns="0" tIns="0" rIns="0" bIns="0" rtlCol="0" anchor="t"/>
          <a:lstStyle/>
          <a:p>
            <a:pPr marL="342900" indent="-342900" algn="l" rtl="0">
              <a:lnSpc>
                <a:spcPts val="2350"/>
              </a:lnSpc>
              <a:buSzPct val="100000"/>
              <a:buChar char="•"/>
            </a:pPr>
            <a:r>
              <a:rPr lang="en-US" sz="1450" dirty="0">
                <a:solidFill>
                  <a:srgbClr val="404155"/>
                </a:solidFill>
                <a:latin typeface="Nobile" pitchFamily="34" charset="0"/>
                <a:ea typeface="Nobile" pitchFamily="34" charset="-122"/>
                <a:cs typeface="Nobile" pitchFamily="34" charset="-120"/>
              </a:rPr>
              <a:t>Attribute modifications are </a:t>
            </a:r>
            <a:r>
              <a:rPr lang="en-US" sz="1450" b="1" dirty="0">
                <a:solidFill>
                  <a:srgbClr val="404155"/>
                </a:solidFill>
                <a:latin typeface="Nobile" pitchFamily="34" charset="0"/>
                <a:ea typeface="Nobile" pitchFamily="34" charset="-122"/>
                <a:cs typeface="Nobile" pitchFamily="34" charset="-120"/>
              </a:rPr>
              <a:t>randomly</a:t>
            </a:r>
            <a:r>
              <a:rPr lang="en-US" sz="1450" dirty="0">
                <a:solidFill>
                  <a:srgbClr val="404155"/>
                </a:solidFill>
                <a:latin typeface="Nobile" pitchFamily="34" charset="0"/>
                <a:ea typeface="Nobile" pitchFamily="34" charset="-122"/>
                <a:cs typeface="Nobile" pitchFamily="34" charset="-120"/>
              </a:rPr>
              <a:t> sampled.</a:t>
            </a:r>
            <a:endParaRPr lang="en-US" sz="1450" dirty="0"/>
          </a:p>
        </p:txBody>
      </p:sp>
      <p:sp>
        <p:nvSpPr>
          <p:cNvPr id="13" name="Shape 11"/>
          <p:cNvSpPr/>
          <p:nvPr/>
        </p:nvSpPr>
        <p:spPr>
          <a:xfrm>
            <a:off x="1369457" y="4582954"/>
            <a:ext cx="11891486" cy="2463403"/>
          </a:xfrm>
          <a:prstGeom prst="roundRect">
            <a:avLst>
              <a:gd name="adj" fmla="val 3205"/>
            </a:avLst>
          </a:prstGeom>
          <a:solidFill>
            <a:srgbClr val="F9F9FF">
              <a:alpha val="95000"/>
            </a:srgbClr>
          </a:solidFill>
          <a:ln w="22860">
            <a:solidFill>
              <a:srgbClr val="B8BFDF"/>
            </a:solidFill>
            <a:prstDash val="solid"/>
          </a:ln>
        </p:spPr>
        <p:txBody>
          <a:bodyPr/>
          <a:lstStyle/>
          <a:p>
            <a:endParaRPr lang="en-US"/>
          </a:p>
        </p:txBody>
      </p:sp>
      <p:sp>
        <p:nvSpPr>
          <p:cNvPr id="14" name="Text 12"/>
          <p:cNvSpPr/>
          <p:nvPr/>
        </p:nvSpPr>
        <p:spPr>
          <a:xfrm>
            <a:off x="1580317" y="4793814"/>
            <a:ext cx="2350056" cy="293727"/>
          </a:xfrm>
          <a:prstGeom prst="rect">
            <a:avLst/>
          </a:prstGeom>
          <a:noFill/>
          <a:ln/>
        </p:spPr>
        <p:txBody>
          <a:bodyPr wrap="none" lIns="0" tIns="0" rIns="0" bIns="0" rtlCol="0" anchor="t"/>
          <a:lstStyle/>
          <a:p>
            <a:pPr marL="0" indent="0" algn="l" rtl="0">
              <a:lnSpc>
                <a:spcPts val="2300"/>
              </a:lnSpc>
              <a:buNone/>
            </a:pPr>
            <a:r>
              <a:rPr lang="en-US" sz="1850" b="1" u="sng" dirty="0">
                <a:solidFill>
                  <a:srgbClr val="404155"/>
                </a:solidFill>
                <a:latin typeface="Corben" pitchFamily="34" charset="0"/>
                <a:ea typeface="Corben" pitchFamily="34" charset="-122"/>
                <a:cs typeface="Corben" pitchFamily="34" charset="-120"/>
              </a:rPr>
              <a:t>Data Labeling</a:t>
            </a:r>
            <a:endParaRPr lang="en-US" sz="1850" dirty="0"/>
          </a:p>
        </p:txBody>
      </p:sp>
      <p:sp>
        <p:nvSpPr>
          <p:cNvPr id="15" name="Text 13"/>
          <p:cNvSpPr/>
          <p:nvPr/>
        </p:nvSpPr>
        <p:spPr>
          <a:xfrm>
            <a:off x="1580317" y="5200293"/>
            <a:ext cx="11469767" cy="902256"/>
          </a:xfrm>
          <a:prstGeom prst="rect">
            <a:avLst/>
          </a:prstGeom>
          <a:noFill/>
          <a:ln/>
        </p:spPr>
        <p:txBody>
          <a:bodyPr wrap="square" lIns="0" tIns="0" rIns="0" bIns="0" rtlCol="0" anchor="t"/>
          <a:lstStyle/>
          <a:p>
            <a:pPr marL="342900" indent="-342900" algn="l" rtl="0">
              <a:lnSpc>
                <a:spcPts val="2350"/>
              </a:lnSpc>
              <a:buSzPct val="100000"/>
              <a:buChar char="•"/>
            </a:pPr>
            <a:r>
              <a:rPr lang="en-US" sz="1450" dirty="0">
                <a:solidFill>
                  <a:srgbClr val="404155"/>
                </a:solidFill>
                <a:latin typeface="Nobile" pitchFamily="34" charset="0"/>
                <a:ea typeface="Nobile" pitchFamily="34" charset="-122"/>
                <a:cs typeface="Nobile" pitchFamily="34" charset="-120"/>
              </a:rPr>
              <a:t>Room attributes include materials, people, furniture, decor, plants, and clutter.</a:t>
            </a:r>
            <a:endParaRPr lang="en-US" sz="1450" dirty="0"/>
          </a:p>
          <a:p>
            <a:pPr marL="0" indent="0" algn="l" rtl="0">
              <a:lnSpc>
                <a:spcPts val="2350"/>
              </a:lnSpc>
              <a:buNone/>
            </a:pPr>
            <a:r>
              <a:rPr lang="en-US" sz="1450" dirty="0">
                <a:solidFill>
                  <a:srgbClr val="404155"/>
                </a:solidFill>
                <a:latin typeface="Nobile" pitchFamily="34" charset="0"/>
                <a:ea typeface="Nobile" pitchFamily="34" charset="-122"/>
                <a:cs typeface="Nobile" pitchFamily="34" charset="-120"/>
              </a:rPr>
              <a:t>        For each room attribute there are 3 possible outcomes.</a:t>
            </a:r>
            <a:endParaRPr lang="en-US" sz="1450" dirty="0"/>
          </a:p>
          <a:p>
            <a:pPr marL="0" indent="0" algn="l" rtl="0">
              <a:lnSpc>
                <a:spcPts val="2350"/>
              </a:lnSpc>
              <a:buNone/>
            </a:pPr>
            <a:r>
              <a:rPr lang="en-US" sz="1450" dirty="0">
                <a:solidFill>
                  <a:srgbClr val="404155"/>
                </a:solidFill>
                <a:latin typeface="Nobile" pitchFamily="34" charset="0"/>
                <a:ea typeface="Nobile" pitchFamily="34" charset="-122"/>
                <a:cs typeface="Nobile" pitchFamily="34" charset="-120"/>
              </a:rPr>
              <a:t>        (we tried curtains, wall decor but they affected the room structure)</a:t>
            </a:r>
            <a:endParaRPr lang="en-US" sz="1450" dirty="0"/>
          </a:p>
        </p:txBody>
      </p:sp>
      <p:sp>
        <p:nvSpPr>
          <p:cNvPr id="16" name="Text 14"/>
          <p:cNvSpPr/>
          <p:nvPr/>
        </p:nvSpPr>
        <p:spPr>
          <a:xfrm>
            <a:off x="1580317" y="6168272"/>
            <a:ext cx="11469767" cy="300752"/>
          </a:xfrm>
          <a:prstGeom prst="rect">
            <a:avLst/>
          </a:prstGeom>
          <a:noFill/>
          <a:ln/>
        </p:spPr>
        <p:txBody>
          <a:bodyPr wrap="none" lIns="0" tIns="0" rIns="0" bIns="0" rtlCol="0" anchor="t"/>
          <a:lstStyle/>
          <a:p>
            <a:pPr marL="342900" indent="-342900" algn="l" rtl="0">
              <a:lnSpc>
                <a:spcPts val="2350"/>
              </a:lnSpc>
              <a:buSzPct val="100000"/>
              <a:buChar char="•"/>
            </a:pPr>
            <a:r>
              <a:rPr lang="en-US" sz="1450" b="1" dirty="0">
                <a:solidFill>
                  <a:srgbClr val="404155"/>
                </a:solidFill>
                <a:latin typeface="Nobile" pitchFamily="34" charset="0"/>
                <a:ea typeface="Nobile" pitchFamily="34" charset="-122"/>
                <a:cs typeface="Nobile" pitchFamily="34" charset="-120"/>
              </a:rPr>
              <a:t>BASE_PROMPT</a:t>
            </a:r>
            <a:r>
              <a:rPr lang="en-US" sz="1450" dirty="0">
                <a:solidFill>
                  <a:srgbClr val="404155"/>
                </a:solidFill>
                <a:latin typeface="Nobile" pitchFamily="34" charset="0"/>
                <a:ea typeface="Nobile" pitchFamily="34" charset="-122"/>
                <a:cs typeface="Nobile" pitchFamily="34" charset="-120"/>
              </a:rPr>
              <a:t> ensures the same room geometry is preserved while decor, materials, and movable objects are varied.</a:t>
            </a:r>
            <a:endParaRPr lang="en-US" sz="1450" dirty="0"/>
          </a:p>
        </p:txBody>
      </p:sp>
      <p:sp>
        <p:nvSpPr>
          <p:cNvPr id="17" name="Text 15"/>
          <p:cNvSpPr/>
          <p:nvPr/>
        </p:nvSpPr>
        <p:spPr>
          <a:xfrm>
            <a:off x="1580317" y="6534746"/>
            <a:ext cx="11469767" cy="300752"/>
          </a:xfrm>
          <a:prstGeom prst="rect">
            <a:avLst/>
          </a:prstGeom>
          <a:noFill/>
          <a:ln/>
        </p:spPr>
        <p:txBody>
          <a:bodyPr wrap="none" lIns="0" tIns="0" rIns="0" bIns="0" rtlCol="0" anchor="t"/>
          <a:lstStyle/>
          <a:p>
            <a:pPr marL="342900" indent="-342900" algn="l" rtl="0">
              <a:lnSpc>
                <a:spcPts val="2350"/>
              </a:lnSpc>
              <a:buSzPct val="100000"/>
              <a:buChar char="•"/>
            </a:pPr>
            <a:r>
              <a:rPr lang="en-US" sz="1450" b="1" dirty="0">
                <a:solidFill>
                  <a:srgbClr val="404155"/>
                </a:solidFill>
                <a:latin typeface="Nobile" pitchFamily="34" charset="0"/>
                <a:ea typeface="Nobile" pitchFamily="34" charset="-122"/>
                <a:cs typeface="Nobile" pitchFamily="34" charset="-120"/>
              </a:rPr>
              <a:t>NEGATIVE_PROMPT</a:t>
            </a:r>
            <a:r>
              <a:rPr lang="en-US" sz="1450" dirty="0">
                <a:solidFill>
                  <a:srgbClr val="404155"/>
                </a:solidFill>
                <a:latin typeface="Nobile" pitchFamily="34" charset="0"/>
                <a:ea typeface="Nobile" pitchFamily="34" charset="-122"/>
                <a:cs typeface="Nobile" pitchFamily="34" charset="-120"/>
              </a:rPr>
              <a:t> prevents generating entirely different rooms or altering the room layout.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92536"/>
            <a:ext cx="6043017" cy="708779"/>
          </a:xfrm>
          <a:prstGeom prst="rect">
            <a:avLst/>
          </a:prstGeom>
          <a:noFill/>
          <a:ln/>
        </p:spPr>
        <p:txBody>
          <a:bodyPr wrap="none" lIns="0" tIns="0" rIns="0" bIns="0" rtlCol="0" anchor="t"/>
          <a:lstStyle/>
          <a:p>
            <a:pPr marL="0" indent="0" algn="l" rtl="0">
              <a:lnSpc>
                <a:spcPts val="5550"/>
              </a:lnSpc>
              <a:buNone/>
            </a:pPr>
            <a:r>
              <a:rPr lang="en-US" sz="4450" dirty="0">
                <a:solidFill>
                  <a:srgbClr val="1B1B27"/>
                </a:solidFill>
                <a:latin typeface="Corben" pitchFamily="34" charset="0"/>
                <a:ea typeface="Corben" pitchFamily="34" charset="-122"/>
                <a:cs typeface="Corben" pitchFamily="34" charset="-120"/>
              </a:rPr>
              <a:t>Room Matching Model</a:t>
            </a:r>
            <a:endParaRPr lang="en-US" sz="4450" dirty="0"/>
          </a:p>
        </p:txBody>
      </p:sp>
      <p:sp>
        <p:nvSpPr>
          <p:cNvPr id="3" name="Text 1"/>
          <p:cNvSpPr/>
          <p:nvPr/>
        </p:nvSpPr>
        <p:spPr>
          <a:xfrm>
            <a:off x="793790" y="3241477"/>
            <a:ext cx="13042821" cy="1088708"/>
          </a:xfrm>
          <a:prstGeom prst="rect">
            <a:avLst/>
          </a:prstGeom>
          <a:noFill/>
          <a:ln/>
        </p:spPr>
        <p:txBody>
          <a:bodyPr wrap="square" lIns="0" tIns="0" rIns="0" bIns="0" rtlCol="0" anchor="t"/>
          <a:lstStyle/>
          <a:p>
            <a:pPr marL="0" indent="0" algn="l" rtl="0">
              <a:lnSpc>
                <a:spcPts val="2850"/>
              </a:lnSpc>
              <a:buNone/>
            </a:pPr>
            <a:r>
              <a:rPr lang="en-US" sz="1750" dirty="0">
                <a:solidFill>
                  <a:srgbClr val="404155"/>
                </a:solidFill>
                <a:latin typeface="Nobile" pitchFamily="34" charset="0"/>
                <a:ea typeface="Nobile" pitchFamily="34" charset="-122"/>
                <a:cs typeface="Nobile" pitchFamily="34" charset="-120"/>
              </a:rPr>
              <a:t>We use </a:t>
            </a:r>
            <a:r>
              <a:rPr lang="en-US" sz="1750" b="1" dirty="0">
                <a:solidFill>
                  <a:srgbClr val="404155"/>
                </a:solidFill>
                <a:latin typeface="Nobile" pitchFamily="34" charset="0"/>
                <a:ea typeface="Nobile" pitchFamily="34" charset="-122"/>
                <a:cs typeface="Nobile" pitchFamily="34" charset="-120"/>
              </a:rPr>
              <a:t>DINOv2 (ViT-B/14)</a:t>
            </a:r>
            <a:r>
              <a:rPr lang="en-US" sz="1750" dirty="0">
                <a:solidFill>
                  <a:srgbClr val="404155"/>
                </a:solidFill>
                <a:latin typeface="Nobile" pitchFamily="34" charset="0"/>
                <a:ea typeface="Nobile" pitchFamily="34" charset="-122"/>
                <a:cs typeface="Nobile" pitchFamily="34" charset="-120"/>
              </a:rPr>
              <a:t>, a self supervised vision transformer pretrained on large scale natural images, as the feature extractor for room embeddings. Images are embedded into a normalized latent space and compared using cosine similarity for image retrieval.</a:t>
            </a:r>
            <a:endParaRPr lang="en-US" sz="1750" dirty="0"/>
          </a:p>
        </p:txBody>
      </p:sp>
      <p:sp>
        <p:nvSpPr>
          <p:cNvPr id="4" name="Text 2"/>
          <p:cNvSpPr/>
          <p:nvPr/>
        </p:nvSpPr>
        <p:spPr>
          <a:xfrm>
            <a:off x="793790" y="4585335"/>
            <a:ext cx="13042821" cy="1451610"/>
          </a:xfrm>
          <a:prstGeom prst="rect">
            <a:avLst/>
          </a:prstGeom>
          <a:noFill/>
          <a:ln/>
        </p:spPr>
        <p:txBody>
          <a:bodyPr wrap="square" lIns="0" tIns="0" rIns="0" bIns="0" rtlCol="0" anchor="t"/>
          <a:lstStyle/>
          <a:p>
            <a:pPr marL="0" indent="0" algn="l" rtl="0">
              <a:lnSpc>
                <a:spcPts val="2850"/>
              </a:lnSpc>
              <a:buNone/>
            </a:pPr>
            <a:endParaRPr lang="en-US" sz="1750" dirty="0">
              <a:solidFill>
                <a:srgbClr val="404155"/>
              </a:solidFill>
              <a:latin typeface="Nobile" pitchFamily="34" charset="0"/>
              <a:ea typeface="Nobile" pitchFamily="34" charset="-122"/>
              <a:cs typeface="Nobile" pitchFamily="34" charset="-120"/>
            </a:endParaRPr>
          </a:p>
          <a:p>
            <a:pPr marL="0" indent="0" algn="l" rtl="0">
              <a:lnSpc>
                <a:spcPts val="2850"/>
              </a:lnSpc>
              <a:buNone/>
            </a:pPr>
            <a:r>
              <a:rPr lang="en-US" sz="1750" dirty="0">
                <a:solidFill>
                  <a:srgbClr val="404155"/>
                </a:solidFill>
                <a:latin typeface="Nobile" pitchFamily="34" charset="0"/>
                <a:ea typeface="Nobile" pitchFamily="34" charset="-122"/>
                <a:cs typeface="Nobile" pitchFamily="34" charset="-120"/>
              </a:rPr>
              <a:t>To adapt the model to room level matching, we fine-tune only the last transformer block using </a:t>
            </a:r>
            <a:r>
              <a:rPr lang="en-US" sz="1750" b="1" dirty="0">
                <a:solidFill>
                  <a:srgbClr val="404155"/>
                </a:solidFill>
                <a:latin typeface="Nobile" pitchFamily="34" charset="0"/>
                <a:ea typeface="Nobile" pitchFamily="34" charset="-122"/>
                <a:cs typeface="Nobile" pitchFamily="34" charset="-120"/>
              </a:rPr>
              <a:t>Triplet Loss</a:t>
            </a:r>
            <a:r>
              <a:rPr lang="en-US" sz="1750" dirty="0">
                <a:solidFill>
                  <a:srgbClr val="404155"/>
                </a:solidFill>
                <a:latin typeface="Nobile" pitchFamily="34" charset="0"/>
                <a:ea typeface="Nobile" pitchFamily="34" charset="-122"/>
                <a:cs typeface="Nobile" pitchFamily="34" charset="-120"/>
              </a:rPr>
              <a:t>. Each training sample consists of an anchor image, a positive image from the same room, and a negative image from a different room. This encourages embeddings of the same physical room to cluster tightly while pushing different rooms further apart.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9360" y="1041671"/>
            <a:ext cx="12171680" cy="1324610"/>
            <a:chOff x="0" y="0"/>
            <a:chExt cx="7468720" cy="812800"/>
          </a:xfrm>
        </p:grpSpPr>
        <p:sp>
          <p:nvSpPr>
            <p:cNvPr id="3" name="Freeform 3"/>
            <p:cNvSpPr/>
            <p:nvPr/>
          </p:nvSpPr>
          <p:spPr>
            <a:xfrm>
              <a:off x="0" y="0"/>
              <a:ext cx="7468720" cy="812800"/>
            </a:xfrm>
            <a:custGeom>
              <a:avLst/>
              <a:gdLst/>
              <a:ahLst/>
              <a:cxnLst/>
              <a:rect l="l" t="t" r="r" b="b"/>
              <a:pathLst>
                <a:path w="7468720" h="812800">
                  <a:moveTo>
                    <a:pt x="0" y="0"/>
                  </a:moveTo>
                  <a:lnTo>
                    <a:pt x="7468720" y="0"/>
                  </a:lnTo>
                  <a:lnTo>
                    <a:pt x="7468720" y="812800"/>
                  </a:lnTo>
                  <a:lnTo>
                    <a:pt x="0" y="812800"/>
                  </a:lnTo>
                  <a:close/>
                </a:path>
              </a:pathLst>
            </a:custGeom>
            <a:blipFill>
              <a:blip r:embed="rId2"/>
              <a:stretch>
                <a:fillRect t="-2836" b="-2836"/>
              </a:stretch>
            </a:blipFill>
            <a:ln w="4762" cap="sq">
              <a:solidFill>
                <a:srgbClr val="000000"/>
              </a:solidFill>
              <a:prstDash val="solid"/>
              <a:miter/>
            </a:ln>
          </p:spPr>
          <p:txBody>
            <a:bodyPr/>
            <a:lstStyle/>
            <a:p>
              <a:endParaRPr lang="en-US" sz="1440"/>
            </a:p>
          </p:txBody>
        </p:sp>
      </p:grpSp>
      <p:grpSp>
        <p:nvGrpSpPr>
          <p:cNvPr id="4" name="Group 4"/>
          <p:cNvGrpSpPr/>
          <p:nvPr/>
        </p:nvGrpSpPr>
        <p:grpSpPr>
          <a:xfrm>
            <a:off x="1229360" y="2771140"/>
            <a:ext cx="12171680" cy="1324610"/>
            <a:chOff x="0" y="0"/>
            <a:chExt cx="7468720" cy="812800"/>
          </a:xfrm>
        </p:grpSpPr>
        <p:sp>
          <p:nvSpPr>
            <p:cNvPr id="5" name="Freeform 5"/>
            <p:cNvSpPr/>
            <p:nvPr/>
          </p:nvSpPr>
          <p:spPr>
            <a:xfrm>
              <a:off x="0" y="0"/>
              <a:ext cx="7468720" cy="812800"/>
            </a:xfrm>
            <a:custGeom>
              <a:avLst/>
              <a:gdLst/>
              <a:ahLst/>
              <a:cxnLst/>
              <a:rect l="l" t="t" r="r" b="b"/>
              <a:pathLst>
                <a:path w="7468720" h="812800">
                  <a:moveTo>
                    <a:pt x="0" y="0"/>
                  </a:moveTo>
                  <a:lnTo>
                    <a:pt x="7468720" y="0"/>
                  </a:lnTo>
                  <a:lnTo>
                    <a:pt x="7468720" y="812800"/>
                  </a:lnTo>
                  <a:lnTo>
                    <a:pt x="0" y="812800"/>
                  </a:lnTo>
                  <a:close/>
                </a:path>
              </a:pathLst>
            </a:custGeom>
            <a:blipFill>
              <a:blip r:embed="rId3"/>
              <a:stretch>
                <a:fillRect t="-2836" b="-2836"/>
              </a:stretch>
            </a:blipFill>
            <a:ln w="4762" cap="sq">
              <a:solidFill>
                <a:srgbClr val="000000"/>
              </a:solidFill>
              <a:prstDash val="solid"/>
              <a:miter/>
            </a:ln>
          </p:spPr>
          <p:txBody>
            <a:bodyPr/>
            <a:lstStyle/>
            <a:p>
              <a:endParaRPr lang="en-US" sz="1440"/>
            </a:p>
          </p:txBody>
        </p:sp>
      </p:grpSp>
      <p:grpSp>
        <p:nvGrpSpPr>
          <p:cNvPr id="6" name="Group 6"/>
          <p:cNvGrpSpPr/>
          <p:nvPr/>
        </p:nvGrpSpPr>
        <p:grpSpPr>
          <a:xfrm>
            <a:off x="1229360" y="4426585"/>
            <a:ext cx="12171680" cy="1324610"/>
            <a:chOff x="0" y="0"/>
            <a:chExt cx="7468720" cy="812800"/>
          </a:xfrm>
        </p:grpSpPr>
        <p:sp>
          <p:nvSpPr>
            <p:cNvPr id="7" name="Freeform 7"/>
            <p:cNvSpPr/>
            <p:nvPr/>
          </p:nvSpPr>
          <p:spPr>
            <a:xfrm>
              <a:off x="0" y="0"/>
              <a:ext cx="7468720" cy="812800"/>
            </a:xfrm>
            <a:custGeom>
              <a:avLst/>
              <a:gdLst/>
              <a:ahLst/>
              <a:cxnLst/>
              <a:rect l="l" t="t" r="r" b="b"/>
              <a:pathLst>
                <a:path w="7468720" h="812800">
                  <a:moveTo>
                    <a:pt x="0" y="0"/>
                  </a:moveTo>
                  <a:lnTo>
                    <a:pt x="7468720" y="0"/>
                  </a:lnTo>
                  <a:lnTo>
                    <a:pt x="7468720" y="812800"/>
                  </a:lnTo>
                  <a:lnTo>
                    <a:pt x="0" y="812800"/>
                  </a:lnTo>
                  <a:close/>
                </a:path>
              </a:pathLst>
            </a:custGeom>
            <a:solidFill>
              <a:srgbClr val="000000">
                <a:alpha val="0"/>
              </a:srgbClr>
            </a:solidFill>
            <a:ln w="12700" cap="sq">
              <a:solidFill>
                <a:srgbClr val="000000"/>
              </a:solidFill>
              <a:prstDash val="solid"/>
              <a:miter/>
            </a:ln>
          </p:spPr>
          <p:txBody>
            <a:bodyPr/>
            <a:lstStyle/>
            <a:p>
              <a:endParaRPr lang="en-US" sz="1440"/>
            </a:p>
          </p:txBody>
        </p:sp>
      </p:grpSp>
      <p:grpSp>
        <p:nvGrpSpPr>
          <p:cNvPr id="8" name="Group 8"/>
          <p:cNvGrpSpPr/>
          <p:nvPr/>
        </p:nvGrpSpPr>
        <p:grpSpPr>
          <a:xfrm>
            <a:off x="1233170" y="4426585"/>
            <a:ext cx="12171680" cy="1324610"/>
            <a:chOff x="0" y="0"/>
            <a:chExt cx="7468720" cy="812800"/>
          </a:xfrm>
        </p:grpSpPr>
        <p:sp>
          <p:nvSpPr>
            <p:cNvPr id="9" name="Freeform 9"/>
            <p:cNvSpPr/>
            <p:nvPr/>
          </p:nvSpPr>
          <p:spPr>
            <a:xfrm>
              <a:off x="0" y="0"/>
              <a:ext cx="7468720" cy="812800"/>
            </a:xfrm>
            <a:custGeom>
              <a:avLst/>
              <a:gdLst/>
              <a:ahLst/>
              <a:cxnLst/>
              <a:rect l="l" t="t" r="r" b="b"/>
              <a:pathLst>
                <a:path w="7468720" h="812800">
                  <a:moveTo>
                    <a:pt x="0" y="0"/>
                  </a:moveTo>
                  <a:lnTo>
                    <a:pt x="7468720" y="0"/>
                  </a:lnTo>
                  <a:lnTo>
                    <a:pt x="7468720" y="812800"/>
                  </a:lnTo>
                  <a:lnTo>
                    <a:pt x="0" y="812800"/>
                  </a:lnTo>
                  <a:close/>
                </a:path>
              </a:pathLst>
            </a:custGeom>
            <a:blipFill>
              <a:blip r:embed="rId4"/>
              <a:stretch>
                <a:fillRect t="-1687" b="-1687"/>
              </a:stretch>
            </a:blipFill>
            <a:ln w="4762" cap="sq">
              <a:solidFill>
                <a:srgbClr val="000000"/>
              </a:solidFill>
              <a:prstDash val="solid"/>
              <a:miter/>
            </a:ln>
          </p:spPr>
          <p:txBody>
            <a:bodyPr/>
            <a:lstStyle/>
            <a:p>
              <a:endParaRPr lang="en-US" sz="1440"/>
            </a:p>
          </p:txBody>
        </p:sp>
      </p:grpSp>
      <p:sp>
        <p:nvSpPr>
          <p:cNvPr id="10" name="Freeform 10"/>
          <p:cNvSpPr/>
          <p:nvPr/>
        </p:nvSpPr>
        <p:spPr>
          <a:xfrm>
            <a:off x="1233171" y="6203120"/>
            <a:ext cx="12167870" cy="1203520"/>
          </a:xfrm>
          <a:custGeom>
            <a:avLst/>
            <a:gdLst/>
            <a:ahLst/>
            <a:cxnLst/>
            <a:rect l="l" t="t" r="r" b="b"/>
            <a:pathLst>
              <a:path w="15209838" h="1504400">
                <a:moveTo>
                  <a:pt x="0" y="0"/>
                </a:moveTo>
                <a:lnTo>
                  <a:pt x="15209837" y="0"/>
                </a:lnTo>
                <a:lnTo>
                  <a:pt x="15209837" y="1504400"/>
                </a:lnTo>
                <a:lnTo>
                  <a:pt x="0" y="1504400"/>
                </a:lnTo>
                <a:lnTo>
                  <a:pt x="0" y="0"/>
                </a:lnTo>
                <a:close/>
              </a:path>
            </a:pathLst>
          </a:custGeom>
          <a:blipFill>
            <a:blip r:embed="rId5"/>
            <a:stretch>
              <a:fillRect t="-16117" r="-31" b="-1451"/>
            </a:stretch>
          </a:blipFill>
          <a:ln w="9525" cap="sq">
            <a:solidFill>
              <a:srgbClr val="000000"/>
            </a:solidFill>
            <a:prstDash val="solid"/>
            <a:miter/>
          </a:ln>
        </p:spPr>
        <p:txBody>
          <a:bodyPr/>
          <a:lstStyle/>
          <a:p>
            <a:endParaRPr lang="en-US" sz="1440"/>
          </a:p>
        </p:txBody>
      </p:sp>
      <p:sp>
        <p:nvSpPr>
          <p:cNvPr id="11" name="TextBox 11"/>
          <p:cNvSpPr txBox="1"/>
          <p:nvPr/>
        </p:nvSpPr>
        <p:spPr>
          <a:xfrm>
            <a:off x="1356943" y="742146"/>
            <a:ext cx="12171680" cy="249940"/>
          </a:xfrm>
          <a:prstGeom prst="rect">
            <a:avLst/>
          </a:prstGeom>
        </p:spPr>
        <p:txBody>
          <a:bodyPr lIns="0" tIns="0" rIns="0" bIns="0" rtlCol="0" anchor="t">
            <a:spAutoFit/>
          </a:bodyPr>
          <a:lstStyle/>
          <a:p>
            <a:pPr algn="ctr" rtl="0">
              <a:lnSpc>
                <a:spcPts val="2099"/>
              </a:lnSpc>
              <a:spcBef>
                <a:spcPct val="0"/>
              </a:spcBef>
            </a:pPr>
            <a:r>
              <a:rPr lang="en-US" sz="1615" dirty="0">
                <a:latin typeface="Georgia"/>
                <a:ea typeface="Georgia"/>
                <a:cs typeface="Georgia"/>
                <a:sym typeface="Georgia"/>
              </a:rPr>
              <a:t>Recall@0 (failure):</a:t>
            </a:r>
          </a:p>
        </p:txBody>
      </p:sp>
      <p:sp>
        <p:nvSpPr>
          <p:cNvPr id="12" name="TextBox 12"/>
          <p:cNvSpPr txBox="1"/>
          <p:nvPr/>
        </p:nvSpPr>
        <p:spPr>
          <a:xfrm>
            <a:off x="1356943" y="2509715"/>
            <a:ext cx="12171680" cy="249940"/>
          </a:xfrm>
          <a:prstGeom prst="rect">
            <a:avLst/>
          </a:prstGeom>
        </p:spPr>
        <p:txBody>
          <a:bodyPr lIns="0" tIns="0" rIns="0" bIns="0" rtlCol="0" anchor="t">
            <a:spAutoFit/>
          </a:bodyPr>
          <a:lstStyle/>
          <a:p>
            <a:pPr algn="ctr" rtl="0">
              <a:lnSpc>
                <a:spcPts val="2099"/>
              </a:lnSpc>
              <a:spcBef>
                <a:spcPct val="0"/>
              </a:spcBef>
            </a:pPr>
            <a:r>
              <a:rPr lang="en-US" sz="1615" dirty="0">
                <a:latin typeface="Georgia"/>
                <a:ea typeface="Georgia"/>
                <a:cs typeface="Georgia"/>
                <a:sym typeface="Georgia"/>
              </a:rPr>
              <a:t>Recall@3:</a:t>
            </a:r>
          </a:p>
        </p:txBody>
      </p:sp>
      <p:sp>
        <p:nvSpPr>
          <p:cNvPr id="13" name="TextBox 13"/>
          <p:cNvSpPr txBox="1"/>
          <p:nvPr/>
        </p:nvSpPr>
        <p:spPr>
          <a:xfrm>
            <a:off x="7311391" y="3876899"/>
            <a:ext cx="7620" cy="394980"/>
          </a:xfrm>
          <a:prstGeom prst="rect">
            <a:avLst/>
          </a:prstGeom>
        </p:spPr>
        <p:txBody>
          <a:bodyPr lIns="0" tIns="0" rIns="0" bIns="0" rtlCol="0" anchor="t">
            <a:spAutoFit/>
          </a:bodyPr>
          <a:lstStyle/>
          <a:p>
            <a:pPr algn="ctr">
              <a:lnSpc>
                <a:spcPts val="3555"/>
              </a:lnSpc>
              <a:spcBef>
                <a:spcPct val="0"/>
              </a:spcBef>
            </a:pPr>
            <a:endParaRPr sz="1440"/>
          </a:p>
        </p:txBody>
      </p:sp>
      <p:sp>
        <p:nvSpPr>
          <p:cNvPr id="14" name="TextBox 14"/>
          <p:cNvSpPr txBox="1"/>
          <p:nvPr/>
        </p:nvSpPr>
        <p:spPr>
          <a:xfrm>
            <a:off x="6985345" y="4165160"/>
            <a:ext cx="914876" cy="249940"/>
          </a:xfrm>
          <a:prstGeom prst="rect">
            <a:avLst/>
          </a:prstGeom>
        </p:spPr>
        <p:txBody>
          <a:bodyPr lIns="0" tIns="0" rIns="0" bIns="0" rtlCol="0" anchor="t">
            <a:spAutoFit/>
          </a:bodyPr>
          <a:lstStyle/>
          <a:p>
            <a:pPr algn="ctr" rtl="0">
              <a:lnSpc>
                <a:spcPts val="2099"/>
              </a:lnSpc>
              <a:spcBef>
                <a:spcPct val="0"/>
              </a:spcBef>
            </a:pPr>
            <a:r>
              <a:rPr lang="en-US" sz="1615" dirty="0">
                <a:latin typeface="Georgia"/>
                <a:ea typeface="Georgia"/>
                <a:cs typeface="Georgia"/>
                <a:sym typeface="Georgia"/>
              </a:rPr>
              <a:t>Recall@7:</a:t>
            </a:r>
          </a:p>
        </p:txBody>
      </p:sp>
      <p:sp>
        <p:nvSpPr>
          <p:cNvPr id="15" name="TextBox 15"/>
          <p:cNvSpPr txBox="1"/>
          <p:nvPr/>
        </p:nvSpPr>
        <p:spPr>
          <a:xfrm>
            <a:off x="6701496" y="5941695"/>
            <a:ext cx="1482575" cy="249940"/>
          </a:xfrm>
          <a:prstGeom prst="rect">
            <a:avLst/>
          </a:prstGeom>
        </p:spPr>
        <p:txBody>
          <a:bodyPr lIns="0" tIns="0" rIns="0" bIns="0" rtlCol="0" anchor="t">
            <a:spAutoFit/>
          </a:bodyPr>
          <a:lstStyle/>
          <a:p>
            <a:pPr algn="ctr" rtl="0">
              <a:lnSpc>
                <a:spcPts val="2099"/>
              </a:lnSpc>
              <a:spcBef>
                <a:spcPct val="0"/>
              </a:spcBef>
            </a:pPr>
            <a:r>
              <a:rPr lang="en-US" sz="1615" dirty="0">
                <a:latin typeface="Georgia"/>
                <a:ea typeface="Georgia"/>
                <a:cs typeface="Georgia"/>
                <a:sym typeface="Georgia"/>
              </a:rPr>
              <a:t>Recall@10:</a:t>
            </a:r>
          </a:p>
        </p:txBody>
      </p:sp>
      <p:sp>
        <p:nvSpPr>
          <p:cNvPr id="16" name="TextBox 16"/>
          <p:cNvSpPr txBox="1"/>
          <p:nvPr/>
        </p:nvSpPr>
        <p:spPr>
          <a:xfrm>
            <a:off x="1356943" y="235750"/>
            <a:ext cx="3129520" cy="381836"/>
          </a:xfrm>
          <a:prstGeom prst="rect">
            <a:avLst/>
          </a:prstGeom>
        </p:spPr>
        <p:txBody>
          <a:bodyPr lIns="0" tIns="0" rIns="0" bIns="0" rtlCol="0" anchor="t">
            <a:spAutoFit/>
          </a:bodyPr>
          <a:lstStyle/>
          <a:p>
            <a:pPr algn="l" rtl="0">
              <a:lnSpc>
                <a:spcPts val="3243"/>
              </a:lnSpc>
              <a:spcBef>
                <a:spcPct val="0"/>
              </a:spcBef>
            </a:pPr>
            <a:r>
              <a:rPr lang="en-US" sz="2495" b="1" dirty="0">
                <a:latin typeface="Georgia Bold"/>
                <a:ea typeface="Georgia Bold"/>
                <a:cs typeface="Georgia Bold"/>
                <a:sym typeface="Georgia Bold"/>
              </a:rPr>
              <a:t>Results Examples: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6527" y="618053"/>
            <a:ext cx="7437596" cy="702231"/>
          </a:xfrm>
          <a:prstGeom prst="rect">
            <a:avLst/>
          </a:prstGeom>
          <a:noFill/>
          <a:ln/>
        </p:spPr>
        <p:txBody>
          <a:bodyPr wrap="none" lIns="0" tIns="0" rIns="0" bIns="0" rtlCol="0" anchor="t"/>
          <a:lstStyle/>
          <a:p>
            <a:pPr marL="0" indent="0" algn="l" rtl="0">
              <a:lnSpc>
                <a:spcPts val="5500"/>
              </a:lnSpc>
              <a:buNone/>
            </a:pPr>
            <a:r>
              <a:rPr lang="en-US" sz="4400" dirty="0">
                <a:solidFill>
                  <a:srgbClr val="1B1B27"/>
                </a:solidFill>
                <a:latin typeface="Corben" pitchFamily="34" charset="0"/>
                <a:ea typeface="Corben" pitchFamily="34" charset="-122"/>
                <a:cs typeface="Corben" pitchFamily="34" charset="-120"/>
              </a:rPr>
              <a:t>Metrics &amp; Accomplishments</a:t>
            </a:r>
            <a:endParaRPr lang="en-US" sz="4400" dirty="0"/>
          </a:p>
        </p:txBody>
      </p:sp>
      <p:sp>
        <p:nvSpPr>
          <p:cNvPr id="3" name="Text 1"/>
          <p:cNvSpPr/>
          <p:nvPr/>
        </p:nvSpPr>
        <p:spPr>
          <a:xfrm>
            <a:off x="786527" y="1410176"/>
            <a:ext cx="3371136" cy="421243"/>
          </a:xfrm>
          <a:prstGeom prst="rect">
            <a:avLst/>
          </a:prstGeom>
          <a:noFill/>
          <a:ln/>
        </p:spPr>
        <p:txBody>
          <a:bodyPr wrap="none" lIns="0" tIns="0" rIns="0" bIns="0" rtlCol="0" anchor="t"/>
          <a:lstStyle/>
          <a:p>
            <a:pPr marL="0" indent="0" algn="l" rtl="0">
              <a:lnSpc>
                <a:spcPts val="3300"/>
              </a:lnSpc>
              <a:buNone/>
            </a:pPr>
            <a:r>
              <a:rPr lang="en-US" sz="2650" dirty="0">
                <a:solidFill>
                  <a:srgbClr val="1B1B27"/>
                </a:solidFill>
                <a:latin typeface="Corben" pitchFamily="34" charset="0"/>
                <a:ea typeface="Corben" pitchFamily="34" charset="-122"/>
                <a:cs typeface="Corben" pitchFamily="34" charset="-120"/>
              </a:rPr>
              <a:t>Metrics:</a:t>
            </a:r>
            <a:endParaRPr lang="en-US" sz="2650" dirty="0"/>
          </a:p>
        </p:txBody>
      </p:sp>
      <p:sp>
        <p:nvSpPr>
          <p:cNvPr id="4" name="Text 2"/>
          <p:cNvSpPr/>
          <p:nvPr/>
        </p:nvSpPr>
        <p:spPr>
          <a:xfrm>
            <a:off x="786527" y="2168485"/>
            <a:ext cx="13057346" cy="719138"/>
          </a:xfrm>
          <a:prstGeom prst="rect">
            <a:avLst/>
          </a:prstGeom>
          <a:noFill/>
          <a:ln/>
        </p:spPr>
        <p:txBody>
          <a:bodyPr wrap="squar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Strict Recall@K </a:t>
            </a:r>
            <a:r>
              <a:rPr lang="en-US" sz="1750" dirty="0">
                <a:solidFill>
                  <a:srgbClr val="404155"/>
                </a:solidFill>
                <a:latin typeface="Nobile" pitchFamily="34" charset="0"/>
                <a:ea typeface="Nobile" pitchFamily="34" charset="-122"/>
                <a:cs typeface="Nobile" pitchFamily="34" charset="-120"/>
              </a:rPr>
              <a:t>measures the percentage of queries for which </a:t>
            </a:r>
            <a:r>
              <a:rPr lang="en-US" sz="1750" b="1" dirty="0">
                <a:solidFill>
                  <a:srgbClr val="404155"/>
                </a:solidFill>
                <a:latin typeface="Nobile" pitchFamily="34" charset="0"/>
                <a:ea typeface="Nobile" pitchFamily="34" charset="-122"/>
                <a:cs typeface="Nobile" pitchFamily="34" charset="-120"/>
              </a:rPr>
              <a:t>all top-K </a:t>
            </a:r>
            <a:r>
              <a:rPr lang="en-US" sz="1750" dirty="0">
                <a:solidFill>
                  <a:srgbClr val="404155"/>
                </a:solidFill>
                <a:latin typeface="Nobile" pitchFamily="34" charset="0"/>
                <a:ea typeface="Nobile" pitchFamily="34" charset="-122"/>
                <a:cs typeface="Nobile" pitchFamily="34" charset="-120"/>
              </a:rPr>
              <a:t>retrieved images belong to the same room ID as the query image, enforcing a strict requirement that every retrieved neighbor </a:t>
            </a:r>
            <a:r>
              <a:rPr lang="en-US" sz="1750" b="1" dirty="0">
                <a:solidFill>
                  <a:srgbClr val="404155"/>
                </a:solidFill>
                <a:latin typeface="Nobile" pitchFamily="34" charset="0"/>
                <a:ea typeface="Nobile" pitchFamily="34" charset="-122"/>
                <a:cs typeface="Nobile" pitchFamily="34" charset="-120"/>
              </a:rPr>
              <a:t>in a row</a:t>
            </a:r>
            <a:r>
              <a:rPr lang="en-US" sz="1750" dirty="0">
                <a:solidFill>
                  <a:srgbClr val="404155"/>
                </a:solidFill>
                <a:latin typeface="Nobile" pitchFamily="34" charset="0"/>
                <a:ea typeface="Nobile" pitchFamily="34" charset="-122"/>
                <a:cs typeface="Nobile" pitchFamily="34" charset="-120"/>
              </a:rPr>
              <a:t> must be correct.</a:t>
            </a:r>
            <a:endParaRPr lang="en-US" sz="1750" dirty="0"/>
          </a:p>
        </p:txBody>
      </p:sp>
      <p:sp>
        <p:nvSpPr>
          <p:cNvPr id="5" name="Text 3"/>
          <p:cNvSpPr/>
          <p:nvPr/>
        </p:nvSpPr>
        <p:spPr>
          <a:xfrm>
            <a:off x="786527" y="2966204"/>
            <a:ext cx="13057346" cy="719138"/>
          </a:xfrm>
          <a:prstGeom prst="rect">
            <a:avLst/>
          </a:prstGeom>
          <a:noFill/>
          <a:ln/>
        </p:spPr>
        <p:txBody>
          <a:bodyPr wrap="squar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Intra-mean </a:t>
            </a:r>
            <a:r>
              <a:rPr lang="en-US" sz="1750" dirty="0">
                <a:solidFill>
                  <a:srgbClr val="404155"/>
                </a:solidFill>
                <a:latin typeface="Nobile" pitchFamily="34" charset="0"/>
                <a:ea typeface="Nobile" pitchFamily="34" charset="-122"/>
                <a:cs typeface="Nobile" pitchFamily="34" charset="-120"/>
              </a:rPr>
              <a:t>is</a:t>
            </a:r>
            <a:r>
              <a:rPr lang="en-US" sz="1750" b="1" dirty="0">
                <a:solidFill>
                  <a:srgbClr val="404155"/>
                </a:solidFill>
                <a:latin typeface="Nobile" pitchFamily="34" charset="0"/>
                <a:ea typeface="Nobile" pitchFamily="34" charset="-122"/>
                <a:cs typeface="Nobile" pitchFamily="34" charset="-120"/>
              </a:rPr>
              <a:t> </a:t>
            </a:r>
            <a:r>
              <a:rPr lang="en-US" sz="1750" dirty="0">
                <a:solidFill>
                  <a:srgbClr val="404155"/>
                </a:solidFill>
                <a:latin typeface="Nobile" pitchFamily="34" charset="0"/>
                <a:ea typeface="Nobile" pitchFamily="34" charset="-122"/>
                <a:cs typeface="Nobile" pitchFamily="34" charset="-120"/>
              </a:rPr>
              <a:t>the average distance between different stylistic variations of the </a:t>
            </a:r>
            <a:r>
              <a:rPr lang="en-US" sz="1750" b="1" dirty="0">
                <a:solidFill>
                  <a:srgbClr val="404155"/>
                </a:solidFill>
                <a:latin typeface="Nobile" pitchFamily="34" charset="0"/>
                <a:ea typeface="Nobile" pitchFamily="34" charset="-122"/>
                <a:cs typeface="Nobile" pitchFamily="34" charset="-120"/>
              </a:rPr>
              <a:t>same</a:t>
            </a:r>
            <a:r>
              <a:rPr lang="en-US" sz="1750" dirty="0">
                <a:solidFill>
                  <a:srgbClr val="404155"/>
                </a:solidFill>
                <a:latin typeface="Nobile" pitchFamily="34" charset="0"/>
                <a:ea typeface="Nobile" pitchFamily="34" charset="-122"/>
                <a:cs typeface="Nobile" pitchFamily="34" charset="-120"/>
              </a:rPr>
              <a:t> physical room. </a:t>
            </a:r>
            <a:endParaRPr lang="en-US" sz="1750" dirty="0"/>
          </a:p>
          <a:p>
            <a:pPr marL="0" indent="0" algn="l" rtl="0">
              <a:lnSpc>
                <a:spcPts val="2800"/>
              </a:lnSpc>
              <a:buNone/>
            </a:pPr>
            <a:r>
              <a:rPr lang="en-US" sz="1750" dirty="0">
                <a:solidFill>
                  <a:srgbClr val="404155"/>
                </a:solidFill>
                <a:latin typeface="Nobile" pitchFamily="34" charset="0"/>
                <a:ea typeface="Nobile" pitchFamily="34" charset="-122"/>
                <a:cs typeface="Nobile" pitchFamily="34" charset="-120"/>
              </a:rPr>
              <a:t>       A lower value indicates better consistency and recognition of the core room identity despite changes.</a:t>
            </a:r>
            <a:endParaRPr lang="en-US" sz="1750" dirty="0"/>
          </a:p>
        </p:txBody>
      </p:sp>
      <p:sp>
        <p:nvSpPr>
          <p:cNvPr id="6" name="Text 4"/>
          <p:cNvSpPr/>
          <p:nvPr/>
        </p:nvSpPr>
        <p:spPr>
          <a:xfrm>
            <a:off x="786527" y="3763923"/>
            <a:ext cx="13057346" cy="719138"/>
          </a:xfrm>
          <a:prstGeom prst="rect">
            <a:avLst/>
          </a:prstGeom>
          <a:noFill/>
          <a:ln/>
        </p:spPr>
        <p:txBody>
          <a:bodyPr wrap="squar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Inter-mean </a:t>
            </a:r>
            <a:r>
              <a:rPr lang="en-US" sz="1750" dirty="0">
                <a:solidFill>
                  <a:srgbClr val="404155"/>
                </a:solidFill>
                <a:latin typeface="Nobile" pitchFamily="34" charset="0"/>
                <a:ea typeface="Nobile" pitchFamily="34" charset="-122"/>
                <a:cs typeface="Nobile" pitchFamily="34" charset="-120"/>
              </a:rPr>
              <a:t>The average distance between </a:t>
            </a:r>
            <a:r>
              <a:rPr lang="en-US" sz="1750" b="1" dirty="0">
                <a:solidFill>
                  <a:srgbClr val="404155"/>
                </a:solidFill>
                <a:latin typeface="Nobile" pitchFamily="34" charset="0"/>
                <a:ea typeface="Nobile" pitchFamily="34" charset="-122"/>
                <a:cs typeface="Nobile" pitchFamily="34" charset="-120"/>
              </a:rPr>
              <a:t>distinct</a:t>
            </a:r>
            <a:r>
              <a:rPr lang="en-US" sz="1750" dirty="0">
                <a:solidFill>
                  <a:srgbClr val="404155"/>
                </a:solidFill>
                <a:latin typeface="Nobile" pitchFamily="34" charset="0"/>
                <a:ea typeface="Nobile" pitchFamily="34" charset="-122"/>
                <a:cs typeface="Nobile" pitchFamily="34" charset="-120"/>
              </a:rPr>
              <a:t> physical rooms.</a:t>
            </a:r>
            <a:endParaRPr lang="en-US" sz="1750" dirty="0"/>
          </a:p>
          <a:p>
            <a:pPr marL="0" indent="0" algn="l" rtl="0">
              <a:lnSpc>
                <a:spcPts val="2800"/>
              </a:lnSpc>
              <a:buNone/>
            </a:pPr>
            <a:r>
              <a:rPr lang="en-US" sz="1750" dirty="0">
                <a:solidFill>
                  <a:srgbClr val="404155"/>
                </a:solidFill>
                <a:latin typeface="Nobile" pitchFamily="34" charset="0"/>
                <a:ea typeface="Nobile" pitchFamily="34" charset="-122"/>
                <a:cs typeface="Nobile" pitchFamily="34" charset="-120"/>
              </a:rPr>
              <a:t>       A higher value signifies that the model successfully differentiates between unique architectural spaces.</a:t>
            </a:r>
            <a:endParaRPr lang="en-US" sz="1750" dirty="0"/>
          </a:p>
        </p:txBody>
      </p:sp>
      <p:sp>
        <p:nvSpPr>
          <p:cNvPr id="7" name="Text 5"/>
          <p:cNvSpPr/>
          <p:nvPr/>
        </p:nvSpPr>
        <p:spPr>
          <a:xfrm>
            <a:off x="786527" y="4561642"/>
            <a:ext cx="13057346" cy="719138"/>
          </a:xfrm>
          <a:prstGeom prst="rect">
            <a:avLst/>
          </a:prstGeom>
          <a:noFill/>
          <a:ln/>
        </p:spPr>
        <p:txBody>
          <a:bodyPr wrap="squar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gap </a:t>
            </a:r>
            <a:r>
              <a:rPr lang="en-US" sz="1750" dirty="0">
                <a:solidFill>
                  <a:srgbClr val="404155"/>
                </a:solidFill>
                <a:latin typeface="Nobile" pitchFamily="34" charset="0"/>
                <a:ea typeface="Nobile" pitchFamily="34" charset="-122"/>
                <a:cs typeface="Nobile" pitchFamily="34" charset="-120"/>
              </a:rPr>
              <a:t>The critical </a:t>
            </a:r>
            <a:r>
              <a:rPr lang="en-US" sz="1750" b="1" dirty="0">
                <a:solidFill>
                  <a:srgbClr val="404155"/>
                </a:solidFill>
                <a:latin typeface="Nobile" pitchFamily="34" charset="0"/>
                <a:ea typeface="Nobile" pitchFamily="34" charset="-122"/>
                <a:cs typeface="Nobile" pitchFamily="34" charset="-120"/>
              </a:rPr>
              <a:t>separation</a:t>
            </a:r>
            <a:r>
              <a:rPr lang="en-US" sz="1750" dirty="0">
                <a:solidFill>
                  <a:srgbClr val="404155"/>
                </a:solidFill>
                <a:latin typeface="Nobile" pitchFamily="34" charset="0"/>
                <a:ea typeface="Nobile" pitchFamily="34" charset="-122"/>
                <a:cs typeface="Nobile" pitchFamily="34" charset="-120"/>
              </a:rPr>
              <a:t> margin between the Intra-mean and Inter-mean. (inter - intra)</a:t>
            </a:r>
            <a:endParaRPr lang="en-US" sz="1750" dirty="0"/>
          </a:p>
          <a:p>
            <a:pPr marL="0" indent="0" algn="l" rtl="0">
              <a:lnSpc>
                <a:spcPts val="2800"/>
              </a:lnSpc>
              <a:buNone/>
            </a:pPr>
            <a:r>
              <a:rPr lang="en-US" sz="1750" dirty="0">
                <a:solidFill>
                  <a:srgbClr val="404155"/>
                </a:solidFill>
                <a:latin typeface="Nobile" pitchFamily="34" charset="0"/>
                <a:ea typeface="Nobile" pitchFamily="34" charset="-122"/>
                <a:cs typeface="Nobile" pitchFamily="34" charset="-120"/>
              </a:rPr>
              <a:t>       A wider gap is the ultimate indicator of the model's success.</a:t>
            </a:r>
            <a:endParaRPr lang="en-US" sz="1750" dirty="0"/>
          </a:p>
        </p:txBody>
      </p:sp>
      <p:sp>
        <p:nvSpPr>
          <p:cNvPr id="8" name="Text 6"/>
          <p:cNvSpPr/>
          <p:nvPr/>
        </p:nvSpPr>
        <p:spPr>
          <a:xfrm>
            <a:off x="786527" y="5617845"/>
            <a:ext cx="3371136" cy="421243"/>
          </a:xfrm>
          <a:prstGeom prst="rect">
            <a:avLst/>
          </a:prstGeom>
          <a:noFill/>
          <a:ln/>
        </p:spPr>
        <p:txBody>
          <a:bodyPr wrap="none" lIns="0" tIns="0" rIns="0" bIns="0" rtlCol="0" anchor="t"/>
          <a:lstStyle/>
          <a:p>
            <a:pPr marL="0" indent="0" algn="l" rtl="0">
              <a:lnSpc>
                <a:spcPts val="3300"/>
              </a:lnSpc>
              <a:buNone/>
            </a:pPr>
            <a:r>
              <a:rPr lang="en-US" sz="2650" dirty="0">
                <a:solidFill>
                  <a:srgbClr val="1B1B27"/>
                </a:solidFill>
                <a:latin typeface="Corben" pitchFamily="34" charset="0"/>
                <a:ea typeface="Corben" pitchFamily="34" charset="-122"/>
                <a:cs typeface="Corben" pitchFamily="34" charset="-120"/>
              </a:rPr>
              <a:t> Achievements:</a:t>
            </a:r>
            <a:endParaRPr lang="en-US" sz="2650" dirty="0"/>
          </a:p>
        </p:txBody>
      </p:sp>
      <p:sp>
        <p:nvSpPr>
          <p:cNvPr id="9" name="Text 7"/>
          <p:cNvSpPr/>
          <p:nvPr/>
        </p:nvSpPr>
        <p:spPr>
          <a:xfrm>
            <a:off x="786527" y="6376154"/>
            <a:ext cx="13057346" cy="359569"/>
          </a:xfrm>
          <a:prstGeom prst="rect">
            <a:avLst/>
          </a:prstGeom>
          <a:noFill/>
          <a:ln/>
        </p:spPr>
        <p:txBody>
          <a:bodyPr wrap="non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Demonstrated measurable improvement</a:t>
            </a:r>
            <a:r>
              <a:rPr lang="en-US" sz="1750" dirty="0">
                <a:solidFill>
                  <a:srgbClr val="404155"/>
                </a:solidFill>
                <a:latin typeface="Nobile" pitchFamily="34" charset="0"/>
                <a:ea typeface="Nobile" pitchFamily="34" charset="-122"/>
                <a:cs typeface="Nobile" pitchFamily="34" charset="-120"/>
              </a:rPr>
              <a:t> in room-level image retrieval through fine-tuning.</a:t>
            </a:r>
            <a:endParaRPr lang="en-US" sz="1750" dirty="0"/>
          </a:p>
        </p:txBody>
      </p:sp>
      <p:sp>
        <p:nvSpPr>
          <p:cNvPr id="10" name="Text 8"/>
          <p:cNvSpPr/>
          <p:nvPr/>
        </p:nvSpPr>
        <p:spPr>
          <a:xfrm>
            <a:off x="786527" y="6814304"/>
            <a:ext cx="13057346" cy="359569"/>
          </a:xfrm>
          <a:prstGeom prst="rect">
            <a:avLst/>
          </a:prstGeom>
          <a:noFill/>
          <a:ln/>
        </p:spPr>
        <p:txBody>
          <a:bodyPr wrap="non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Increased embedding separability</a:t>
            </a:r>
            <a:r>
              <a:rPr lang="en-US" sz="1750" dirty="0">
                <a:solidFill>
                  <a:srgbClr val="404155"/>
                </a:solidFill>
                <a:latin typeface="Nobile" pitchFamily="34" charset="0"/>
                <a:ea typeface="Nobile" pitchFamily="34" charset="-122"/>
                <a:cs typeface="Nobile" pitchFamily="34" charset="-120"/>
              </a:rPr>
              <a:t>, achieving a significantly larger intra–inter distance gap.</a:t>
            </a:r>
            <a:endParaRPr lang="en-US" sz="1750" dirty="0"/>
          </a:p>
        </p:txBody>
      </p:sp>
      <p:sp>
        <p:nvSpPr>
          <p:cNvPr id="11" name="Text 9"/>
          <p:cNvSpPr/>
          <p:nvPr/>
        </p:nvSpPr>
        <p:spPr>
          <a:xfrm>
            <a:off x="786527" y="7252454"/>
            <a:ext cx="13057346" cy="359569"/>
          </a:xfrm>
          <a:prstGeom prst="rect">
            <a:avLst/>
          </a:prstGeom>
          <a:noFill/>
          <a:ln/>
        </p:spPr>
        <p:txBody>
          <a:bodyPr wrap="none" lIns="0" tIns="0" rIns="0" bIns="0" rtlCol="0" anchor="t"/>
          <a:lstStyle/>
          <a:p>
            <a:pPr marL="342900" indent="-342900" algn="l" rtl="0">
              <a:lnSpc>
                <a:spcPts val="2800"/>
              </a:lnSpc>
              <a:buSzPct val="100000"/>
              <a:buChar char="•"/>
            </a:pPr>
            <a:r>
              <a:rPr lang="en-US" sz="1750" b="1" dirty="0">
                <a:solidFill>
                  <a:srgbClr val="404155"/>
                </a:solidFill>
                <a:latin typeface="Nobile" pitchFamily="34" charset="0"/>
                <a:ea typeface="Nobile" pitchFamily="34" charset="-122"/>
                <a:cs typeface="Nobile" pitchFamily="34" charset="-120"/>
              </a:rPr>
              <a:t>Validated robustness</a:t>
            </a:r>
            <a:r>
              <a:rPr lang="en-US" sz="1750" dirty="0">
                <a:solidFill>
                  <a:srgbClr val="404155"/>
                </a:solidFill>
                <a:latin typeface="Nobile" pitchFamily="34" charset="0"/>
                <a:ea typeface="Nobile" pitchFamily="34" charset="-122"/>
                <a:cs typeface="Nobile" pitchFamily="34" charset="-120"/>
              </a:rPr>
              <a:t> using a strict evaluation protocol (Strict Recall@K).</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463754" y="508754"/>
            <a:ext cx="4625578" cy="578168"/>
          </a:xfrm>
          <a:prstGeom prst="rect">
            <a:avLst/>
          </a:prstGeom>
          <a:noFill/>
          <a:ln/>
        </p:spPr>
        <p:txBody>
          <a:bodyPr wrap="none" lIns="0" tIns="0" rIns="0" bIns="0" rtlCol="0" anchor="t"/>
          <a:lstStyle/>
          <a:p>
            <a:pPr marL="0" indent="0" algn="l" rtl="0">
              <a:lnSpc>
                <a:spcPts val="4550"/>
              </a:lnSpc>
              <a:buNone/>
            </a:pPr>
            <a:r>
              <a:rPr lang="en-US" sz="3600" dirty="0">
                <a:solidFill>
                  <a:srgbClr val="1B1B27"/>
                </a:solidFill>
                <a:latin typeface="Corben" pitchFamily="34" charset="0"/>
                <a:ea typeface="Corben" pitchFamily="34" charset="-122"/>
                <a:cs typeface="Corben" pitchFamily="34" charset="-120"/>
              </a:rPr>
              <a:t>Methodology</a:t>
            </a:r>
            <a:endParaRPr lang="en-US" sz="3600" dirty="0"/>
          </a:p>
        </p:txBody>
      </p:sp>
      <p:sp>
        <p:nvSpPr>
          <p:cNvPr id="3" name="Text 1"/>
          <p:cNvSpPr/>
          <p:nvPr/>
        </p:nvSpPr>
        <p:spPr>
          <a:xfrm>
            <a:off x="1463754" y="1160859"/>
            <a:ext cx="2775347" cy="346829"/>
          </a:xfrm>
          <a:prstGeom prst="rect">
            <a:avLst/>
          </a:prstGeom>
          <a:noFill/>
          <a:ln/>
        </p:spPr>
        <p:txBody>
          <a:bodyPr wrap="none" lIns="0" tIns="0" rIns="0" bIns="0" rtlCol="0" anchor="t"/>
          <a:lstStyle/>
          <a:p>
            <a:pPr marL="0" indent="0" algn="l" rtl="0">
              <a:lnSpc>
                <a:spcPts val="2700"/>
              </a:lnSpc>
              <a:buNone/>
            </a:pPr>
            <a:r>
              <a:rPr lang="en-US" sz="2150" dirty="0">
                <a:solidFill>
                  <a:srgbClr val="1B1B27"/>
                </a:solidFill>
                <a:latin typeface="Corben" pitchFamily="34" charset="0"/>
                <a:ea typeface="Corben" pitchFamily="34" charset="-122"/>
                <a:cs typeface="Corben" pitchFamily="34" charset="-120"/>
              </a:rPr>
              <a:t>Project process:</a:t>
            </a:r>
            <a:endParaRPr lang="en-US" sz="2150" dirty="0"/>
          </a:p>
        </p:txBody>
      </p:sp>
      <p:sp>
        <p:nvSpPr>
          <p:cNvPr id="4" name="Text 2"/>
          <p:cNvSpPr/>
          <p:nvPr/>
        </p:nvSpPr>
        <p:spPr>
          <a:xfrm>
            <a:off x="1463754" y="1785223"/>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dirty="0">
                <a:solidFill>
                  <a:srgbClr val="404155"/>
                </a:solidFill>
                <a:latin typeface="Nobile" pitchFamily="34" charset="0"/>
                <a:ea typeface="Nobile" pitchFamily="34" charset="-122"/>
                <a:cs typeface="Nobile" pitchFamily="34" charset="-120"/>
              </a:rPr>
              <a:t>Generated a controlled dataset: 1 real room image + 10 synthetic variants per room.</a:t>
            </a:r>
            <a:endParaRPr lang="en-US" sz="1450" dirty="0"/>
          </a:p>
        </p:txBody>
      </p:sp>
      <p:sp>
        <p:nvSpPr>
          <p:cNvPr id="5" name="Text 3"/>
          <p:cNvSpPr/>
          <p:nvPr/>
        </p:nvSpPr>
        <p:spPr>
          <a:xfrm>
            <a:off x="1463754" y="2145863"/>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dirty="0">
                <a:solidFill>
                  <a:srgbClr val="404155"/>
                </a:solidFill>
                <a:latin typeface="Nobile" pitchFamily="34" charset="0"/>
                <a:ea typeface="Nobile" pitchFamily="34" charset="-122"/>
                <a:cs typeface="Nobile" pitchFamily="34" charset="-120"/>
              </a:rPr>
              <a:t>Built a room image retrieval pipeline using DINOv2 embeddings.</a:t>
            </a:r>
            <a:endParaRPr lang="en-US" sz="1450" dirty="0"/>
          </a:p>
        </p:txBody>
      </p:sp>
      <p:sp>
        <p:nvSpPr>
          <p:cNvPr id="6" name="Text 4"/>
          <p:cNvSpPr/>
          <p:nvPr/>
        </p:nvSpPr>
        <p:spPr>
          <a:xfrm>
            <a:off x="1463754" y="2506504"/>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dirty="0">
                <a:solidFill>
                  <a:srgbClr val="404155"/>
                </a:solidFill>
                <a:latin typeface="Nobile" pitchFamily="34" charset="0"/>
                <a:ea typeface="Nobile" pitchFamily="34" charset="-122"/>
                <a:cs typeface="Nobile" pitchFamily="34" charset="-120"/>
              </a:rPr>
              <a:t>Fine-tuned the model using metric learning (Triplet Loss).</a:t>
            </a:r>
            <a:endParaRPr lang="en-US" sz="1450" dirty="0"/>
          </a:p>
        </p:txBody>
      </p:sp>
      <p:sp>
        <p:nvSpPr>
          <p:cNvPr id="7" name="Text 5"/>
          <p:cNvSpPr/>
          <p:nvPr/>
        </p:nvSpPr>
        <p:spPr>
          <a:xfrm>
            <a:off x="1463754" y="2867144"/>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dirty="0">
                <a:solidFill>
                  <a:srgbClr val="404155"/>
                </a:solidFill>
                <a:latin typeface="Nobile" pitchFamily="34" charset="0"/>
                <a:ea typeface="Nobile" pitchFamily="34" charset="-122"/>
                <a:cs typeface="Nobile" pitchFamily="34" charset="-120"/>
              </a:rPr>
              <a:t>Extracted and normalized embeddings for all images.</a:t>
            </a:r>
            <a:endParaRPr lang="en-US" sz="1450" dirty="0"/>
          </a:p>
        </p:txBody>
      </p:sp>
      <p:sp>
        <p:nvSpPr>
          <p:cNvPr id="8" name="Text 6"/>
          <p:cNvSpPr/>
          <p:nvPr/>
        </p:nvSpPr>
        <p:spPr>
          <a:xfrm>
            <a:off x="1463754" y="3440668"/>
            <a:ext cx="2775347" cy="346829"/>
          </a:xfrm>
          <a:prstGeom prst="rect">
            <a:avLst/>
          </a:prstGeom>
          <a:noFill/>
          <a:ln/>
        </p:spPr>
        <p:txBody>
          <a:bodyPr wrap="none" lIns="0" tIns="0" rIns="0" bIns="0" rtlCol="0" anchor="t"/>
          <a:lstStyle/>
          <a:p>
            <a:pPr marL="0" indent="0" algn="l" rtl="0">
              <a:lnSpc>
                <a:spcPts val="2700"/>
              </a:lnSpc>
              <a:buNone/>
            </a:pPr>
            <a:r>
              <a:rPr lang="en-US" sz="2150" dirty="0">
                <a:solidFill>
                  <a:srgbClr val="1B1B27"/>
                </a:solidFill>
                <a:latin typeface="Corben" pitchFamily="34" charset="0"/>
                <a:ea typeface="Corben" pitchFamily="34" charset="-122"/>
                <a:cs typeface="Corben" pitchFamily="34" charset="-120"/>
              </a:rPr>
              <a:t>Data &amp; Evaluation:</a:t>
            </a:r>
            <a:endParaRPr lang="en-US" sz="2150" dirty="0"/>
          </a:p>
        </p:txBody>
      </p:sp>
      <p:sp>
        <p:nvSpPr>
          <p:cNvPr id="9" name="Text 7"/>
          <p:cNvSpPr/>
          <p:nvPr/>
        </p:nvSpPr>
        <p:spPr>
          <a:xfrm>
            <a:off x="1463754" y="4065032"/>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b="1" dirty="0">
                <a:solidFill>
                  <a:srgbClr val="404155"/>
                </a:solidFill>
                <a:latin typeface="Nobile" pitchFamily="34" charset="0"/>
                <a:ea typeface="Nobile" pitchFamily="34" charset="-122"/>
                <a:cs typeface="Nobile" pitchFamily="34" charset="-120"/>
              </a:rPr>
              <a:t>Data</a:t>
            </a:r>
            <a:r>
              <a:rPr lang="en-US" sz="1450" dirty="0">
                <a:solidFill>
                  <a:srgbClr val="404155"/>
                </a:solidFill>
                <a:latin typeface="Nobile" pitchFamily="34" charset="0"/>
                <a:ea typeface="Nobile" pitchFamily="34" charset="-122"/>
                <a:cs typeface="Nobile" pitchFamily="34" charset="-120"/>
              </a:rPr>
              <a:t>: 1,000 real room images, 10,000 synthetic variants (same room, altered content).</a:t>
            </a:r>
            <a:endParaRPr lang="en-US" sz="1450" dirty="0"/>
          </a:p>
        </p:txBody>
      </p:sp>
      <p:sp>
        <p:nvSpPr>
          <p:cNvPr id="10" name="Text 8"/>
          <p:cNvSpPr/>
          <p:nvPr/>
        </p:nvSpPr>
        <p:spPr>
          <a:xfrm>
            <a:off x="1463754" y="4425672"/>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b="1" dirty="0">
                <a:solidFill>
                  <a:srgbClr val="404155"/>
                </a:solidFill>
                <a:latin typeface="Nobile" pitchFamily="34" charset="0"/>
                <a:ea typeface="Nobile" pitchFamily="34" charset="-122"/>
                <a:cs typeface="Nobile" pitchFamily="34" charset="-120"/>
              </a:rPr>
              <a:t>Model</a:t>
            </a:r>
            <a:r>
              <a:rPr lang="en-US" sz="1450" dirty="0">
                <a:solidFill>
                  <a:srgbClr val="404155"/>
                </a:solidFill>
                <a:latin typeface="Nobile" pitchFamily="34" charset="0"/>
                <a:ea typeface="Nobile" pitchFamily="34" charset="-122"/>
                <a:cs typeface="Nobile" pitchFamily="34" charset="-120"/>
              </a:rPr>
              <a:t>: DINOv2 ViT-B/14 (base vs. fine-tuned).</a:t>
            </a:r>
            <a:endParaRPr lang="en-US" sz="1450" dirty="0"/>
          </a:p>
        </p:txBody>
      </p:sp>
      <p:sp>
        <p:nvSpPr>
          <p:cNvPr id="11" name="Text 9"/>
          <p:cNvSpPr/>
          <p:nvPr/>
        </p:nvSpPr>
        <p:spPr>
          <a:xfrm>
            <a:off x="1463754" y="4786313"/>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b="1" dirty="0">
                <a:solidFill>
                  <a:srgbClr val="404155"/>
                </a:solidFill>
                <a:latin typeface="Nobile" pitchFamily="34" charset="0"/>
                <a:ea typeface="Nobile" pitchFamily="34" charset="-122"/>
                <a:cs typeface="Nobile" pitchFamily="34" charset="-120"/>
              </a:rPr>
              <a:t>Metrics</a:t>
            </a:r>
            <a:r>
              <a:rPr lang="en-US" sz="1450" dirty="0">
                <a:solidFill>
                  <a:srgbClr val="404155"/>
                </a:solidFill>
                <a:latin typeface="Nobile" pitchFamily="34" charset="0"/>
                <a:ea typeface="Nobile" pitchFamily="34" charset="-122"/>
                <a:cs typeface="Nobile" pitchFamily="34" charset="-120"/>
              </a:rPr>
              <a:t>:</a:t>
            </a:r>
            <a:endParaRPr lang="en-US" sz="1450" dirty="0"/>
          </a:p>
        </p:txBody>
      </p:sp>
      <p:sp>
        <p:nvSpPr>
          <p:cNvPr id="12" name="Text 10"/>
          <p:cNvSpPr/>
          <p:nvPr/>
        </p:nvSpPr>
        <p:spPr>
          <a:xfrm>
            <a:off x="1463754" y="5146953"/>
            <a:ext cx="11702772" cy="295989"/>
          </a:xfrm>
          <a:prstGeom prst="rect">
            <a:avLst/>
          </a:prstGeom>
          <a:noFill/>
          <a:ln/>
        </p:spPr>
        <p:txBody>
          <a:bodyPr wrap="none" lIns="0" tIns="0" rIns="0" bIns="0" rtlCol="0" anchor="t"/>
          <a:lstStyle/>
          <a:p>
            <a:pPr marL="685800" lvl="1" indent="-342900" algn="l" rtl="0">
              <a:lnSpc>
                <a:spcPts val="2300"/>
              </a:lnSpc>
              <a:buSzPct val="100000"/>
              <a:buFont typeface="Wingdings" panose="05000000000000000000" pitchFamily="2" charset="2"/>
              <a:buChar char="q"/>
            </a:pPr>
            <a:r>
              <a:rPr lang="en-US" sz="1450" dirty="0">
                <a:solidFill>
                  <a:srgbClr val="404155"/>
                </a:solidFill>
                <a:latin typeface="Nobile" pitchFamily="34" charset="0"/>
                <a:ea typeface="Nobile" pitchFamily="34" charset="-122"/>
                <a:cs typeface="Nobile" pitchFamily="34" charset="-120"/>
              </a:rPr>
              <a:t>Strict Recall@K</a:t>
            </a:r>
            <a:endParaRPr lang="en-US" sz="1450" dirty="0"/>
          </a:p>
        </p:txBody>
      </p:sp>
      <p:sp>
        <p:nvSpPr>
          <p:cNvPr id="13" name="Text 11"/>
          <p:cNvSpPr/>
          <p:nvPr/>
        </p:nvSpPr>
        <p:spPr>
          <a:xfrm>
            <a:off x="1463754" y="5507593"/>
            <a:ext cx="11702772" cy="295989"/>
          </a:xfrm>
          <a:prstGeom prst="rect">
            <a:avLst/>
          </a:prstGeom>
          <a:noFill/>
          <a:ln/>
        </p:spPr>
        <p:txBody>
          <a:bodyPr wrap="none" lIns="0" tIns="0" rIns="0" bIns="0" rtlCol="0" anchor="t"/>
          <a:lstStyle/>
          <a:p>
            <a:pPr marL="685800" lvl="1" indent="-342900" algn="l" rtl="0">
              <a:lnSpc>
                <a:spcPts val="2300"/>
              </a:lnSpc>
              <a:buSzPct val="100000"/>
              <a:buFont typeface="Wingdings" panose="05000000000000000000" pitchFamily="2" charset="2"/>
              <a:buChar char="q"/>
            </a:pPr>
            <a:r>
              <a:rPr lang="en-US" sz="1450" dirty="0">
                <a:solidFill>
                  <a:srgbClr val="404155"/>
                </a:solidFill>
                <a:latin typeface="Nobile" pitchFamily="34" charset="0"/>
                <a:ea typeface="Nobile" pitchFamily="34" charset="-122"/>
                <a:cs typeface="Nobile" pitchFamily="34" charset="-120"/>
              </a:rPr>
              <a:t>Intra-room vs. inter-room distance analysis</a:t>
            </a:r>
            <a:endParaRPr lang="en-US" sz="1450" dirty="0"/>
          </a:p>
        </p:txBody>
      </p:sp>
      <p:sp>
        <p:nvSpPr>
          <p:cNvPr id="14" name="Text 12"/>
          <p:cNvSpPr/>
          <p:nvPr/>
        </p:nvSpPr>
        <p:spPr>
          <a:xfrm>
            <a:off x="1463754" y="5868233"/>
            <a:ext cx="11702772" cy="295989"/>
          </a:xfrm>
          <a:prstGeom prst="rect">
            <a:avLst/>
          </a:prstGeom>
          <a:noFill/>
          <a:ln/>
        </p:spPr>
        <p:txBody>
          <a:bodyPr wrap="none" lIns="0" tIns="0" rIns="0" bIns="0" rtlCol="0" anchor="t"/>
          <a:lstStyle/>
          <a:p>
            <a:pPr marL="685800" lvl="1" indent="-342900" algn="l" rtl="0">
              <a:lnSpc>
                <a:spcPts val="2300"/>
              </a:lnSpc>
              <a:buSzPct val="100000"/>
              <a:buFont typeface="Wingdings" panose="05000000000000000000" pitchFamily="2" charset="2"/>
              <a:buChar char="q"/>
            </a:pPr>
            <a:r>
              <a:rPr lang="en-US" sz="1450" dirty="0">
                <a:solidFill>
                  <a:srgbClr val="404155"/>
                </a:solidFill>
                <a:latin typeface="Nobile" pitchFamily="34" charset="0"/>
                <a:ea typeface="Nobile" pitchFamily="34" charset="-122"/>
                <a:cs typeface="Nobile" pitchFamily="34" charset="-120"/>
              </a:rPr>
              <a:t>Embedding gap (inter − intra)</a:t>
            </a:r>
            <a:endParaRPr lang="en-US" sz="1450" dirty="0"/>
          </a:p>
        </p:txBody>
      </p:sp>
      <p:sp>
        <p:nvSpPr>
          <p:cNvPr id="15" name="Text 13"/>
          <p:cNvSpPr/>
          <p:nvPr/>
        </p:nvSpPr>
        <p:spPr>
          <a:xfrm>
            <a:off x="1463754" y="6441758"/>
            <a:ext cx="2775347" cy="346829"/>
          </a:xfrm>
          <a:prstGeom prst="rect">
            <a:avLst/>
          </a:prstGeom>
          <a:noFill/>
          <a:ln/>
        </p:spPr>
        <p:txBody>
          <a:bodyPr wrap="none" lIns="0" tIns="0" rIns="0" bIns="0" rtlCol="0" anchor="t"/>
          <a:lstStyle/>
          <a:p>
            <a:pPr marL="0" indent="0" algn="l" rtl="0">
              <a:lnSpc>
                <a:spcPts val="2700"/>
              </a:lnSpc>
              <a:buNone/>
            </a:pPr>
            <a:r>
              <a:rPr lang="en-US" sz="2150" dirty="0">
                <a:solidFill>
                  <a:srgbClr val="1B1B27"/>
                </a:solidFill>
                <a:latin typeface="Corben" pitchFamily="34" charset="0"/>
                <a:ea typeface="Corben" pitchFamily="34" charset="-122"/>
                <a:cs typeface="Corben" pitchFamily="34" charset="-120"/>
              </a:rPr>
              <a:t>Efforts done:</a:t>
            </a:r>
            <a:endParaRPr lang="en-US" sz="2150" dirty="0"/>
          </a:p>
        </p:txBody>
      </p:sp>
      <p:sp>
        <p:nvSpPr>
          <p:cNvPr id="16" name="Text 14"/>
          <p:cNvSpPr/>
          <p:nvPr/>
        </p:nvSpPr>
        <p:spPr>
          <a:xfrm>
            <a:off x="1463754" y="7066121"/>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dirty="0">
                <a:solidFill>
                  <a:srgbClr val="404155"/>
                </a:solidFill>
                <a:latin typeface="Nobile" pitchFamily="34" charset="0"/>
                <a:ea typeface="Nobile" pitchFamily="34" charset="-122"/>
                <a:cs typeface="Nobile" pitchFamily="34" charset="-120"/>
              </a:rPr>
              <a:t>Designed </a:t>
            </a:r>
            <a:r>
              <a:rPr lang="en-US" sz="1450" b="1" dirty="0">
                <a:solidFill>
                  <a:srgbClr val="404155"/>
                </a:solidFill>
                <a:latin typeface="Nobile" pitchFamily="34" charset="0"/>
                <a:ea typeface="Nobile" pitchFamily="34" charset="-122"/>
                <a:cs typeface="Nobile" pitchFamily="34" charset="-120"/>
              </a:rPr>
              <a:t>strict evaluation</a:t>
            </a:r>
            <a:r>
              <a:rPr lang="en-US" sz="1450" dirty="0">
                <a:solidFill>
                  <a:srgbClr val="404155"/>
                </a:solidFill>
                <a:latin typeface="Nobile" pitchFamily="34" charset="0"/>
                <a:ea typeface="Nobile" pitchFamily="34" charset="-122"/>
                <a:cs typeface="Nobile" pitchFamily="34" charset="-120"/>
              </a:rPr>
              <a:t> to avoid inflated performance.</a:t>
            </a:r>
            <a:endParaRPr lang="en-US" sz="1450" dirty="0"/>
          </a:p>
        </p:txBody>
      </p:sp>
      <p:sp>
        <p:nvSpPr>
          <p:cNvPr id="17" name="Text 15"/>
          <p:cNvSpPr/>
          <p:nvPr/>
        </p:nvSpPr>
        <p:spPr>
          <a:xfrm>
            <a:off x="1463754" y="7426762"/>
            <a:ext cx="11702772" cy="295989"/>
          </a:xfrm>
          <a:prstGeom prst="rect">
            <a:avLst/>
          </a:prstGeom>
          <a:noFill/>
          <a:ln/>
        </p:spPr>
        <p:txBody>
          <a:bodyPr wrap="none" lIns="0" tIns="0" rIns="0" bIns="0" rtlCol="0" anchor="t"/>
          <a:lstStyle/>
          <a:p>
            <a:pPr marL="342900" indent="-342900" algn="l" rtl="0">
              <a:lnSpc>
                <a:spcPts val="2300"/>
              </a:lnSpc>
              <a:buSzPct val="100000"/>
              <a:buChar char="•"/>
            </a:pPr>
            <a:r>
              <a:rPr lang="en-US" sz="1450" dirty="0">
                <a:solidFill>
                  <a:srgbClr val="404155"/>
                </a:solidFill>
                <a:latin typeface="Nobile" pitchFamily="34" charset="0"/>
                <a:ea typeface="Nobile" pitchFamily="34" charset="-122"/>
                <a:cs typeface="Nobile" pitchFamily="34" charset="-120"/>
              </a:rPr>
              <a:t>Used </a:t>
            </a:r>
            <a:r>
              <a:rPr lang="en-US" sz="1450" b="1" dirty="0">
                <a:solidFill>
                  <a:srgbClr val="404155"/>
                </a:solidFill>
                <a:latin typeface="Nobile" pitchFamily="34" charset="0"/>
                <a:ea typeface="Nobile" pitchFamily="34" charset="-122"/>
                <a:cs typeface="Nobile" pitchFamily="34" charset="-120"/>
              </a:rPr>
              <a:t>controlled synthetic variations</a:t>
            </a:r>
            <a:r>
              <a:rPr lang="en-US" sz="1450" dirty="0">
                <a:solidFill>
                  <a:srgbClr val="404155"/>
                </a:solidFill>
                <a:latin typeface="Nobile" pitchFamily="34" charset="0"/>
                <a:ea typeface="Nobile" pitchFamily="34" charset="-122"/>
                <a:cs typeface="Nobile" pitchFamily="34" charset="-120"/>
              </a:rPr>
              <a:t> to enforce invariance learning.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560677" y="414695"/>
            <a:ext cx="3006804" cy="375761"/>
          </a:xfrm>
          <a:prstGeom prst="rect">
            <a:avLst/>
          </a:prstGeom>
          <a:noFill/>
          <a:ln/>
        </p:spPr>
        <p:txBody>
          <a:bodyPr wrap="none" lIns="0" tIns="0" rIns="0" bIns="0" rtlCol="0" anchor="t"/>
          <a:lstStyle/>
          <a:p>
            <a:pPr marL="0" indent="0" algn="l" rtl="0">
              <a:lnSpc>
                <a:spcPts val="2950"/>
              </a:lnSpc>
              <a:buNone/>
            </a:pPr>
            <a:r>
              <a:rPr lang="en-US" sz="2350" dirty="0">
                <a:solidFill>
                  <a:srgbClr val="1B1B27"/>
                </a:solidFill>
                <a:latin typeface="Corben" pitchFamily="34" charset="0"/>
                <a:ea typeface="Corben" pitchFamily="34" charset="-122"/>
                <a:cs typeface="Corben" pitchFamily="34" charset="-120"/>
              </a:rPr>
              <a:t>Results</a:t>
            </a:r>
            <a:endParaRPr lang="en-US" sz="2350" dirty="0"/>
          </a:p>
        </p:txBody>
      </p:sp>
      <p:sp>
        <p:nvSpPr>
          <p:cNvPr id="3" name="Text 1"/>
          <p:cNvSpPr/>
          <p:nvPr/>
        </p:nvSpPr>
        <p:spPr>
          <a:xfrm>
            <a:off x="2560677" y="1166217"/>
            <a:ext cx="2255044" cy="281821"/>
          </a:xfrm>
          <a:prstGeom prst="rect">
            <a:avLst/>
          </a:prstGeom>
          <a:noFill/>
          <a:ln/>
        </p:spPr>
        <p:txBody>
          <a:bodyPr wrap="none" lIns="0" tIns="0" rIns="0" bIns="0" rtlCol="0" anchor="t"/>
          <a:lstStyle/>
          <a:p>
            <a:pPr marL="0" indent="0" algn="l" rtl="0">
              <a:lnSpc>
                <a:spcPts val="2200"/>
              </a:lnSpc>
              <a:buNone/>
            </a:pPr>
            <a:r>
              <a:rPr lang="en-US" sz="1750" dirty="0">
                <a:solidFill>
                  <a:srgbClr val="1B1B27"/>
                </a:solidFill>
                <a:latin typeface="Corben" pitchFamily="34" charset="0"/>
                <a:ea typeface="Corben" pitchFamily="34" charset="-122"/>
                <a:cs typeface="Corben" pitchFamily="34" charset="-120"/>
              </a:rPr>
              <a:t>Base Model Results: </a:t>
            </a:r>
            <a:endParaRPr lang="en-US" sz="1750" dirty="0"/>
          </a:p>
        </p:txBody>
      </p:sp>
      <p:pic>
        <p:nvPicPr>
          <p:cNvPr id="4" name="Image 0" descr="preencoded.png"/>
          <p:cNvPicPr>
            <a:picLocks noChangeAspect="1"/>
          </p:cNvPicPr>
          <p:nvPr/>
        </p:nvPicPr>
        <p:blipFill>
          <a:blip r:embed="rId3"/>
          <a:stretch>
            <a:fillRect/>
          </a:stretch>
        </p:blipFill>
        <p:spPr>
          <a:xfrm>
            <a:off x="2560677" y="1617107"/>
            <a:ext cx="4571048" cy="2559725"/>
          </a:xfrm>
          <a:prstGeom prst="rect">
            <a:avLst/>
          </a:prstGeom>
        </p:spPr>
      </p:pic>
      <p:sp>
        <p:nvSpPr>
          <p:cNvPr id="5" name="Text 2"/>
          <p:cNvSpPr/>
          <p:nvPr/>
        </p:nvSpPr>
        <p:spPr>
          <a:xfrm>
            <a:off x="7506057" y="1166217"/>
            <a:ext cx="2255044" cy="281821"/>
          </a:xfrm>
          <a:prstGeom prst="rect">
            <a:avLst/>
          </a:prstGeom>
          <a:noFill/>
          <a:ln/>
        </p:spPr>
        <p:txBody>
          <a:bodyPr wrap="none" lIns="0" tIns="0" rIns="0" bIns="0" rtlCol="0" anchor="t"/>
          <a:lstStyle/>
          <a:p>
            <a:pPr marL="0" indent="0" algn="l" rtl="0">
              <a:lnSpc>
                <a:spcPts val="2200"/>
              </a:lnSpc>
              <a:buNone/>
            </a:pPr>
            <a:r>
              <a:rPr lang="en-US" sz="1750" dirty="0">
                <a:solidFill>
                  <a:srgbClr val="1B1B27"/>
                </a:solidFill>
                <a:latin typeface="Corben" pitchFamily="34" charset="0"/>
                <a:ea typeface="Corben" pitchFamily="34" charset="-122"/>
                <a:cs typeface="Corben" pitchFamily="34" charset="-120"/>
              </a:rPr>
              <a:t>Interm Results:</a:t>
            </a:r>
            <a:endParaRPr lang="en-US" sz="1750" dirty="0"/>
          </a:p>
        </p:txBody>
      </p:sp>
      <p:pic>
        <p:nvPicPr>
          <p:cNvPr id="6" name="Image 1" descr="preencoded.png"/>
          <p:cNvPicPr>
            <a:picLocks noChangeAspect="1"/>
          </p:cNvPicPr>
          <p:nvPr/>
        </p:nvPicPr>
        <p:blipFill>
          <a:blip r:embed="rId4"/>
          <a:stretch>
            <a:fillRect/>
          </a:stretch>
        </p:blipFill>
        <p:spPr>
          <a:xfrm>
            <a:off x="7506057" y="1617107"/>
            <a:ext cx="4571048" cy="2559725"/>
          </a:xfrm>
          <a:prstGeom prst="rect">
            <a:avLst/>
          </a:prstGeom>
        </p:spPr>
      </p:pic>
      <p:sp>
        <p:nvSpPr>
          <p:cNvPr id="7" name="Text 3"/>
          <p:cNvSpPr/>
          <p:nvPr/>
        </p:nvSpPr>
        <p:spPr>
          <a:xfrm>
            <a:off x="2560677" y="4665226"/>
            <a:ext cx="2755225" cy="281821"/>
          </a:xfrm>
          <a:prstGeom prst="rect">
            <a:avLst/>
          </a:prstGeom>
          <a:noFill/>
          <a:ln/>
        </p:spPr>
        <p:txBody>
          <a:bodyPr wrap="none" lIns="0" tIns="0" rIns="0" bIns="0" rtlCol="0" anchor="t"/>
          <a:lstStyle/>
          <a:p>
            <a:pPr marL="0" indent="0" algn="l" rtl="0">
              <a:lnSpc>
                <a:spcPts val="2200"/>
              </a:lnSpc>
              <a:buNone/>
            </a:pPr>
            <a:r>
              <a:rPr lang="en-US" sz="1750" dirty="0">
                <a:solidFill>
                  <a:srgbClr val="1B1B27"/>
                </a:solidFill>
                <a:latin typeface="Corben" pitchFamily="34" charset="0"/>
                <a:ea typeface="Corben" pitchFamily="34" charset="-122"/>
                <a:cs typeface="Corben" pitchFamily="34" charset="-120"/>
              </a:rPr>
              <a:t>Fine-tuned Model Results:</a:t>
            </a:r>
            <a:endParaRPr lang="en-US" sz="1750" dirty="0"/>
          </a:p>
        </p:txBody>
      </p:sp>
      <p:pic>
        <p:nvPicPr>
          <p:cNvPr id="8" name="Image 2" descr="preencoded.png"/>
          <p:cNvPicPr>
            <a:picLocks noChangeAspect="1"/>
          </p:cNvPicPr>
          <p:nvPr/>
        </p:nvPicPr>
        <p:blipFill>
          <a:blip r:embed="rId5"/>
          <a:stretch>
            <a:fillRect/>
          </a:stretch>
        </p:blipFill>
        <p:spPr>
          <a:xfrm>
            <a:off x="2560676" y="5116116"/>
            <a:ext cx="4521053" cy="2277904"/>
          </a:xfrm>
          <a:prstGeom prst="rect">
            <a:avLst/>
          </a:prstGeom>
        </p:spPr>
      </p:pic>
      <p:sp>
        <p:nvSpPr>
          <p:cNvPr id="9" name="Text 4"/>
          <p:cNvSpPr/>
          <p:nvPr/>
        </p:nvSpPr>
        <p:spPr>
          <a:xfrm>
            <a:off x="2560677" y="7439025"/>
            <a:ext cx="4274820" cy="240506"/>
          </a:xfrm>
          <a:prstGeom prst="rect">
            <a:avLst/>
          </a:prstGeom>
          <a:noFill/>
          <a:ln/>
        </p:spPr>
        <p:txBody>
          <a:bodyPr wrap="none" lIns="0" tIns="0" rIns="0" bIns="0" rtlCol="0" anchor="t"/>
          <a:lstStyle/>
          <a:p>
            <a:pPr marL="0" indent="0" algn="l">
              <a:lnSpc>
                <a:spcPts val="1850"/>
              </a:lnSpc>
              <a:buNone/>
            </a:pPr>
            <a:endParaRPr lang="en-US" sz="1150" dirty="0"/>
          </a:p>
        </p:txBody>
      </p:sp>
      <p:sp>
        <p:nvSpPr>
          <p:cNvPr id="10" name="Text 5"/>
          <p:cNvSpPr/>
          <p:nvPr/>
        </p:nvSpPr>
        <p:spPr>
          <a:xfrm>
            <a:off x="7523202" y="4665226"/>
            <a:ext cx="2568416" cy="281821"/>
          </a:xfrm>
          <a:prstGeom prst="rect">
            <a:avLst/>
          </a:prstGeom>
          <a:noFill/>
          <a:ln/>
        </p:spPr>
        <p:txBody>
          <a:bodyPr wrap="none" lIns="0" tIns="0" rIns="0" bIns="0" rtlCol="0" anchor="t"/>
          <a:lstStyle/>
          <a:p>
            <a:pPr marL="0" indent="0" algn="l" rtl="0">
              <a:lnSpc>
                <a:spcPts val="2200"/>
              </a:lnSpc>
              <a:buNone/>
            </a:pPr>
            <a:r>
              <a:rPr lang="en-US" sz="1750" dirty="0">
                <a:solidFill>
                  <a:srgbClr val="1B1B27"/>
                </a:solidFill>
                <a:latin typeface="Corben" pitchFamily="34" charset="0"/>
                <a:ea typeface="Corben" pitchFamily="34" charset="-122"/>
                <a:cs typeface="Corben" pitchFamily="34" charset="-120"/>
              </a:rPr>
              <a:t>Embedding separability:</a:t>
            </a:r>
            <a:endParaRPr lang="en-US" sz="1750" dirty="0"/>
          </a:p>
        </p:txBody>
      </p:sp>
      <p:pic>
        <p:nvPicPr>
          <p:cNvPr id="28" name="תמונה 27" descr="תמונה שמכילה טקסט, צילום מסך, מספר, ריבוע&#10;&#10;תוכן בינה מלאכותית גנרטיבית עשוי להיות שגוי.">
            <a:extLst>
              <a:ext uri="{FF2B5EF4-FFF2-40B4-BE49-F238E27FC236}">
                <a16:creationId xmlns:a16="http://schemas.microsoft.com/office/drawing/2014/main" id="{C433DB11-C0D9-F9D4-D25F-0C57D0AE975D}"/>
              </a:ext>
            </a:extLst>
          </p:cNvPr>
          <p:cNvPicPr>
            <a:picLocks noChangeAspect="1"/>
          </p:cNvPicPr>
          <p:nvPr/>
        </p:nvPicPr>
        <p:blipFill>
          <a:blip r:embed="rId6"/>
          <a:stretch>
            <a:fillRect/>
          </a:stretch>
        </p:blipFill>
        <p:spPr>
          <a:xfrm>
            <a:off x="7389119" y="4992577"/>
            <a:ext cx="5404997" cy="24014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797957"/>
            <a:ext cx="5670590" cy="708779"/>
          </a:xfrm>
          <a:prstGeom prst="rect">
            <a:avLst/>
          </a:prstGeom>
          <a:noFill/>
          <a:ln/>
        </p:spPr>
        <p:txBody>
          <a:bodyPr wrap="none" lIns="0" tIns="0" rIns="0" bIns="0" rtlCol="0" anchor="t"/>
          <a:lstStyle/>
          <a:p>
            <a:pPr marL="0" indent="0" algn="l" rtl="0">
              <a:lnSpc>
                <a:spcPts val="5550"/>
              </a:lnSpc>
              <a:buNone/>
            </a:pPr>
            <a:r>
              <a:rPr lang="en-US" sz="4450" dirty="0">
                <a:solidFill>
                  <a:srgbClr val="1B1B27"/>
                </a:solidFill>
                <a:latin typeface="Corben" pitchFamily="34" charset="0"/>
                <a:ea typeface="Corben" pitchFamily="34" charset="-122"/>
                <a:cs typeface="Corben" pitchFamily="34" charset="-120"/>
              </a:rPr>
              <a:t>Conclusions</a:t>
            </a:r>
            <a:endParaRPr lang="en-US" sz="4450" dirty="0"/>
          </a:p>
        </p:txBody>
      </p:sp>
      <p:sp>
        <p:nvSpPr>
          <p:cNvPr id="3" name="Text 1"/>
          <p:cNvSpPr/>
          <p:nvPr/>
        </p:nvSpPr>
        <p:spPr>
          <a:xfrm>
            <a:off x="793790" y="1597462"/>
            <a:ext cx="3402330" cy="425291"/>
          </a:xfrm>
          <a:prstGeom prst="rect">
            <a:avLst/>
          </a:prstGeom>
          <a:noFill/>
          <a:ln/>
        </p:spPr>
        <p:txBody>
          <a:bodyPr wrap="none" lIns="0" tIns="0" rIns="0" bIns="0" rtlCol="0" anchor="t"/>
          <a:lstStyle/>
          <a:p>
            <a:pPr marL="0" indent="0" algn="l" rtl="0">
              <a:lnSpc>
                <a:spcPts val="3300"/>
              </a:lnSpc>
              <a:buNone/>
            </a:pPr>
            <a:r>
              <a:rPr lang="en-US" sz="2650" dirty="0">
                <a:solidFill>
                  <a:srgbClr val="1B1B27"/>
                </a:solidFill>
                <a:latin typeface="Corben" pitchFamily="34" charset="0"/>
                <a:ea typeface="Corben" pitchFamily="34" charset="-122"/>
                <a:cs typeface="Corben" pitchFamily="34" charset="-120"/>
              </a:rPr>
              <a:t>Achieved results:</a:t>
            </a:r>
            <a:endParaRPr lang="en-US" sz="2650" dirty="0"/>
          </a:p>
        </p:txBody>
      </p:sp>
      <p:sp>
        <p:nvSpPr>
          <p:cNvPr id="4" name="Text 2"/>
          <p:cNvSpPr/>
          <p:nvPr/>
        </p:nvSpPr>
        <p:spPr>
          <a:xfrm>
            <a:off x="793790" y="2362914"/>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Fine-tuning significantly improved room level retrieval quality.</a:t>
            </a:r>
            <a:endParaRPr lang="en-US" sz="1750" dirty="0"/>
          </a:p>
        </p:txBody>
      </p:sp>
      <p:sp>
        <p:nvSpPr>
          <p:cNvPr id="5" name="Text 3"/>
          <p:cNvSpPr/>
          <p:nvPr/>
        </p:nvSpPr>
        <p:spPr>
          <a:xfrm>
            <a:off x="793790" y="2805113"/>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Achieved tighter intra-room clustering and stronger separation between rooms.</a:t>
            </a:r>
            <a:endParaRPr lang="en-US" sz="1750" dirty="0"/>
          </a:p>
        </p:txBody>
      </p:sp>
      <p:sp>
        <p:nvSpPr>
          <p:cNvPr id="6" name="Text 4"/>
          <p:cNvSpPr/>
          <p:nvPr/>
        </p:nvSpPr>
        <p:spPr>
          <a:xfrm>
            <a:off x="793790" y="3247311"/>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Improvements were consistent under Strict Recall@K, a highly challenging metric.</a:t>
            </a:r>
            <a:endParaRPr lang="en-US" sz="1750" dirty="0"/>
          </a:p>
        </p:txBody>
      </p:sp>
      <p:sp>
        <p:nvSpPr>
          <p:cNvPr id="7" name="Text 5"/>
          <p:cNvSpPr/>
          <p:nvPr/>
        </p:nvSpPr>
        <p:spPr>
          <a:xfrm>
            <a:off x="793790" y="3950375"/>
            <a:ext cx="3402330" cy="425291"/>
          </a:xfrm>
          <a:prstGeom prst="rect">
            <a:avLst/>
          </a:prstGeom>
          <a:noFill/>
          <a:ln/>
        </p:spPr>
        <p:txBody>
          <a:bodyPr wrap="none" lIns="0" tIns="0" rIns="0" bIns="0" rtlCol="0" anchor="t"/>
          <a:lstStyle/>
          <a:p>
            <a:pPr marL="0" indent="0" algn="l" rtl="0">
              <a:lnSpc>
                <a:spcPts val="3300"/>
              </a:lnSpc>
              <a:buNone/>
            </a:pPr>
            <a:r>
              <a:rPr lang="en-US" sz="2650" dirty="0">
                <a:solidFill>
                  <a:srgbClr val="1B1B27"/>
                </a:solidFill>
                <a:latin typeface="Corben" pitchFamily="34" charset="0"/>
                <a:ea typeface="Corben" pitchFamily="34" charset="-122"/>
                <a:cs typeface="Corben" pitchFamily="34" charset="-120"/>
              </a:rPr>
              <a:t>Things we learnt:</a:t>
            </a:r>
            <a:endParaRPr lang="en-US" sz="2650" dirty="0"/>
          </a:p>
        </p:txBody>
      </p:sp>
      <p:sp>
        <p:nvSpPr>
          <p:cNvPr id="8" name="Text 6"/>
          <p:cNvSpPr/>
          <p:nvPr/>
        </p:nvSpPr>
        <p:spPr>
          <a:xfrm>
            <a:off x="793790" y="4715828"/>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Generic pretrained embeddings were insufficient for room level retrieval without adaptation.</a:t>
            </a:r>
            <a:endParaRPr lang="en-US" sz="1750" dirty="0"/>
          </a:p>
        </p:txBody>
      </p:sp>
      <p:sp>
        <p:nvSpPr>
          <p:cNvPr id="9" name="Text 7"/>
          <p:cNvSpPr/>
          <p:nvPr/>
        </p:nvSpPr>
        <p:spPr>
          <a:xfrm>
            <a:off x="793790" y="5158026"/>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Some visually similar rooms remain challenging under strict evaluation.</a:t>
            </a:r>
            <a:endParaRPr lang="en-US" sz="1750" dirty="0"/>
          </a:p>
        </p:txBody>
      </p:sp>
      <p:sp>
        <p:nvSpPr>
          <p:cNvPr id="10" name="Text 8"/>
          <p:cNvSpPr/>
          <p:nvPr/>
        </p:nvSpPr>
        <p:spPr>
          <a:xfrm>
            <a:off x="793790" y="5861090"/>
            <a:ext cx="3402330" cy="425291"/>
          </a:xfrm>
          <a:prstGeom prst="rect">
            <a:avLst/>
          </a:prstGeom>
          <a:noFill/>
          <a:ln/>
        </p:spPr>
        <p:txBody>
          <a:bodyPr wrap="none" lIns="0" tIns="0" rIns="0" bIns="0" rtlCol="0" anchor="t"/>
          <a:lstStyle/>
          <a:p>
            <a:pPr marL="0" indent="0" algn="l" rtl="0">
              <a:lnSpc>
                <a:spcPts val="3300"/>
              </a:lnSpc>
              <a:buNone/>
            </a:pPr>
            <a:r>
              <a:rPr lang="en-US" sz="2650" dirty="0">
                <a:solidFill>
                  <a:srgbClr val="1B1B27"/>
                </a:solidFill>
                <a:latin typeface="Corben" pitchFamily="34" charset="0"/>
                <a:ea typeface="Corben" pitchFamily="34" charset="-122"/>
                <a:cs typeface="Corben" pitchFamily="34" charset="-120"/>
              </a:rPr>
              <a:t> Future Ideas:</a:t>
            </a:r>
            <a:endParaRPr lang="en-US" sz="2650" dirty="0"/>
          </a:p>
        </p:txBody>
      </p:sp>
      <p:sp>
        <p:nvSpPr>
          <p:cNvPr id="11" name="Text 9"/>
          <p:cNvSpPr/>
          <p:nvPr/>
        </p:nvSpPr>
        <p:spPr>
          <a:xfrm>
            <a:off x="793790" y="6626543"/>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Analyze performance differences across room categories (bedroom, kitchen, living room, bathroom).</a:t>
            </a:r>
            <a:endParaRPr lang="en-US" sz="1750" dirty="0"/>
          </a:p>
        </p:txBody>
      </p:sp>
      <p:sp>
        <p:nvSpPr>
          <p:cNvPr id="12" name="Text 10"/>
          <p:cNvSpPr/>
          <p:nvPr/>
        </p:nvSpPr>
        <p:spPr>
          <a:xfrm>
            <a:off x="793790" y="7068741"/>
            <a:ext cx="13042821" cy="362903"/>
          </a:xfrm>
          <a:prstGeom prst="rect">
            <a:avLst/>
          </a:prstGeom>
          <a:noFill/>
          <a:ln/>
        </p:spPr>
        <p:txBody>
          <a:bodyPr wrap="none" lIns="0" tIns="0" rIns="0" bIns="0" rtlCol="0" anchor="t"/>
          <a:lstStyle/>
          <a:p>
            <a:pPr marL="342900" indent="-342900" algn="l" rtl="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Test synthetic-to-real retrieval as a robustness benchmark.</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835</Words>
  <Application>Microsoft Office PowerPoint</Application>
  <PresentationFormat>מותאם אישית</PresentationFormat>
  <Paragraphs>86</Paragraphs>
  <Slides>10</Slides>
  <Notes>8</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10</vt:i4>
      </vt:variant>
    </vt:vector>
  </HeadingPairs>
  <TitlesOfParts>
    <vt:vector size="17" baseType="lpstr">
      <vt:lpstr>Georgia Bold</vt:lpstr>
      <vt:lpstr>Wingdings</vt:lpstr>
      <vt:lpstr>Corben</vt:lpstr>
      <vt:lpstr>Georgia</vt:lpstr>
      <vt:lpstr>Nobile</vt:lpstr>
      <vt:lpstr>Arial</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Arkadi Doktorovich</cp:lastModifiedBy>
  <cp:revision>2</cp:revision>
  <dcterms:created xsi:type="dcterms:W3CDTF">2026-01-20T17:11:25Z</dcterms:created>
  <dcterms:modified xsi:type="dcterms:W3CDTF">2026-01-20T18:41:46Z</dcterms:modified>
</cp:coreProperties>
</file>