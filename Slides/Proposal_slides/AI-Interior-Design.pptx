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4630400" cy="8229600"/>
  <p:notesSz cx="8229600" cy="14630400"/>
  <p:embeddedFontLst>
    <p:embeddedFont>
      <p:font typeface="Corben"/>
      <p:regular r:id="rId13"/>
    </p:embeddedFont>
    <p:embeddedFont>
      <p:font typeface="Corben"/>
      <p:regular r:id="rId14"/>
    </p:embeddedFont>
    <p:embeddedFont>
      <p:font typeface="Nobile"/>
      <p:regular r:id="rId15"/>
    </p:embeddedFont>
    <p:embeddedFont>
      <p:font typeface="Nobile"/>
      <p:regular r:id="rId16"/>
    </p:embeddedFont>
    <p:embeddedFont>
      <p:font typeface="Nobile"/>
      <p:regular r:id="rId17"/>
    </p:embeddedFont>
    <p:embeddedFont>
      <p:font typeface="Nobile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9FF">
              <a:alpha val="8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30459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AI Interior Design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4094917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Arkadi Doktorovich - 325118610</a:t>
            </a:r>
            <a:endParaRPr lang="en-US" sz="1750" dirty="0"/>
          </a:p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Elia Meerson - 211819750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0"/>
            <a:ext cx="3657600" cy="82299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23768"/>
            <a:ext cx="610385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The Future of Interior Design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1530906"/>
            <a:ext cx="93852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Interior design today is a slow and complex process that often relies on expensive professional designers and fragmented digital tools. Users struggle to visualize changes in real time and experiment with personalized styles.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2874764"/>
            <a:ext cx="9385221" cy="2252305"/>
          </a:xfrm>
          <a:prstGeom prst="roundRect">
            <a:avLst>
              <a:gd name="adj" fmla="val 6496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3310" y="2874764"/>
            <a:ext cx="121920" cy="2252305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7" name="Text 4"/>
          <p:cNvSpPr/>
          <p:nvPr/>
        </p:nvSpPr>
        <p:spPr>
          <a:xfrm>
            <a:off x="1142524" y="31320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Why It's Challenging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42524" y="3622477"/>
            <a:ext cx="87791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Combining image and text input.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142524" y="4064675"/>
            <a:ext cx="87791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Seamlessly integrating new elements.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142524" y="4506873"/>
            <a:ext cx="87791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Maintaining consistent lighting and geometry.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3790" y="5353883"/>
            <a:ext cx="9385221" cy="2252305"/>
          </a:xfrm>
          <a:prstGeom prst="roundRect">
            <a:avLst>
              <a:gd name="adj" fmla="val 6496"/>
            </a:avLst>
          </a:prstGeom>
          <a:solidFill>
            <a:srgbClr val="F9F9FF">
              <a:alpha val="95000"/>
            </a:srgbClr>
          </a:solidFill>
          <a:ln w="30480">
            <a:solidFill>
              <a:srgbClr val="B8BF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3310" y="5353883"/>
            <a:ext cx="121920" cy="2252305"/>
          </a:xfrm>
          <a:prstGeom prst="roundRect">
            <a:avLst>
              <a:gd name="adj" fmla="val 78139"/>
            </a:avLst>
          </a:prstGeom>
          <a:solidFill>
            <a:srgbClr val="4967E9"/>
          </a:solidFill>
          <a:ln/>
        </p:spPr>
      </p:sp>
      <p:sp>
        <p:nvSpPr>
          <p:cNvPr id="13" name="Text 10"/>
          <p:cNvSpPr/>
          <p:nvPr/>
        </p:nvSpPr>
        <p:spPr>
          <a:xfrm>
            <a:off x="1142524" y="56111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Current Approaches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142524" y="6101596"/>
            <a:ext cx="87791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Expensive and time consuming.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142524" y="6543794"/>
            <a:ext cx="87791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Lack customization and immediate visualization.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1142524" y="6985992"/>
            <a:ext cx="87791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Often lack realism and editing capabilities.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19864"/>
            <a:ext cx="927544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Redefining Room Transformations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982272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system receives a room image and a text request describing furniture, style, or mood, and generates a redesigned room that aligns with the user’s intent. Optionally, approved designs include downloadable 3D furniture models.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96322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8224" y="319766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67E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15390" y="3384709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8224" y="41049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Furniture Handling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459533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Users can preserve selected objects while removing or replacing others.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216962" y="296322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51396" y="319766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67E9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8562" y="3384709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51396" y="41049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Blueprint Generation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5451396" y="459533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Approved designs provide accurate, ready to build 3D models for each new item.</a:t>
            </a:r>
            <a:endParaRPr lang="en-US" sz="1750" dirty="0"/>
          </a:p>
        </p:txBody>
      </p:sp>
      <p:sp>
        <p:nvSpPr>
          <p:cNvPr id="14" name="Shape 10"/>
          <p:cNvSpPr/>
          <p:nvPr/>
        </p:nvSpPr>
        <p:spPr>
          <a:xfrm>
            <a:off x="9640133" y="2963228"/>
            <a:ext cx="4196358" cy="2955250"/>
          </a:xfrm>
          <a:prstGeom prst="roundRect">
            <a:avLst>
              <a:gd name="adj" fmla="val 3224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74568" y="319766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67E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1734" y="3384709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74568" y="4104918"/>
            <a:ext cx="30570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Smart Wall Repainting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9874568" y="459533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Wall colors are changed without affecting ceilings or architectural details.</a:t>
            </a:r>
            <a:endParaRPr lang="en-US" sz="1750" dirty="0"/>
          </a:p>
        </p:txBody>
      </p:sp>
      <p:sp>
        <p:nvSpPr>
          <p:cNvPr id="19" name="Text 14"/>
          <p:cNvSpPr/>
          <p:nvPr/>
        </p:nvSpPr>
        <p:spPr>
          <a:xfrm>
            <a:off x="1133951" y="6428780"/>
            <a:ext cx="1270265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This project offers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67E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unprecedented novelty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by integrating multimodal input, object aware editing, and practical 3D model output in a single, intuitive workflow.</a:t>
            </a:r>
            <a:endParaRPr lang="en-US" sz="1750" dirty="0"/>
          </a:p>
        </p:txBody>
      </p:sp>
      <p:sp>
        <p:nvSpPr>
          <p:cNvPr id="20" name="Shape 15"/>
          <p:cNvSpPr/>
          <p:nvPr/>
        </p:nvSpPr>
        <p:spPr>
          <a:xfrm>
            <a:off x="793790" y="6173629"/>
            <a:ext cx="30480" cy="1236107"/>
          </a:xfrm>
          <a:prstGeom prst="rect">
            <a:avLst/>
          </a:prstGeom>
          <a:solidFill>
            <a:srgbClr val="4967E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95507"/>
            <a:ext cx="111407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Models &amp; Methods: Our Technical Pipeline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5791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Our system uses a multi stage AI pipeline to deliver realistic and consistent interior transformations.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97596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93790" y="3331012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505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Image Segmentation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3995738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Models such as SAM or Mask2Former segment the room into walls, floor, ceiling, and furniture objects.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28548" y="2975967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3331012"/>
            <a:ext cx="6408063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0" name="Text 8"/>
          <p:cNvSpPr/>
          <p:nvPr/>
        </p:nvSpPr>
        <p:spPr>
          <a:xfrm>
            <a:off x="7428548" y="350531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Semantic Generation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28548" y="3995738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Diffusion models with ControlNet generate and edit furniture while preserving scene structure and lighting.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511837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473422"/>
            <a:ext cx="6407944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4" name="Text 12"/>
          <p:cNvSpPr/>
          <p:nvPr/>
        </p:nvSpPr>
        <p:spPr>
          <a:xfrm>
            <a:off x="793790" y="5647730"/>
            <a:ext cx="442543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Inpainting &amp; Layout Preservation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93790" y="6138148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Advanced inpainting ensures natural removal of objects and seamless integration of new elements.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428548" y="511837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5473422"/>
            <a:ext cx="6408063" cy="30480"/>
          </a:xfrm>
          <a:prstGeom prst="rect">
            <a:avLst/>
          </a:prstGeom>
          <a:solidFill>
            <a:srgbClr val="4967E9"/>
          </a:solidFill>
          <a:ln/>
        </p:spPr>
      </p:sp>
      <p:sp>
        <p:nvSpPr>
          <p:cNvPr id="18" name="Text 16"/>
          <p:cNvSpPr/>
          <p:nvPr/>
        </p:nvSpPr>
        <p:spPr>
          <a:xfrm>
            <a:off x="7428548" y="564773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3D Reconstruction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28548" y="6138148"/>
            <a:ext cx="640806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Dedicated 3D reconstruction models transform generated furniture into accurate, production-ready 3D blueprints.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218" y="620792"/>
            <a:ext cx="8472011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Data Specification &amp; Generation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790218" y="2116455"/>
            <a:ext cx="4199453" cy="2391966"/>
          </a:xfrm>
          <a:prstGeom prst="roundRect">
            <a:avLst>
              <a:gd name="adj" fmla="val 6116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0218" y="2085975"/>
            <a:ext cx="4199453" cy="121920"/>
          </a:xfrm>
          <a:prstGeom prst="roundRect">
            <a:avLst>
              <a:gd name="adj" fmla="val 77780"/>
            </a:avLst>
          </a:prstGeom>
          <a:solidFill>
            <a:srgbClr val="4967E9"/>
          </a:solidFill>
          <a:ln/>
        </p:spPr>
      </p:sp>
      <p:sp>
        <p:nvSpPr>
          <p:cNvPr id="5" name="Shape 3"/>
          <p:cNvSpPr/>
          <p:nvPr/>
        </p:nvSpPr>
        <p:spPr>
          <a:xfrm>
            <a:off x="2551212" y="1777841"/>
            <a:ext cx="677347" cy="677347"/>
          </a:xfrm>
          <a:prstGeom prst="roundRect">
            <a:avLst>
              <a:gd name="adj" fmla="val 134997"/>
            </a:avLst>
          </a:prstGeom>
          <a:solidFill>
            <a:srgbClr val="4967E9"/>
          </a:solidFill>
          <a:ln/>
        </p:spPr>
      </p:sp>
      <p:sp>
        <p:nvSpPr>
          <p:cNvPr id="6" name="Text 4"/>
          <p:cNvSpPr/>
          <p:nvPr/>
        </p:nvSpPr>
        <p:spPr>
          <a:xfrm>
            <a:off x="2754451" y="1947148"/>
            <a:ext cx="270867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46440" y="2680811"/>
            <a:ext cx="3233499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Interior Design Datasets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46440" y="3168848"/>
            <a:ext cx="3687008" cy="108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Large scale datasets with room images, furniture types, and architectural styles.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5414" y="2116455"/>
            <a:ext cx="4199453" cy="2391966"/>
          </a:xfrm>
          <a:prstGeom prst="roundRect">
            <a:avLst>
              <a:gd name="adj" fmla="val 6116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215414" y="2085975"/>
            <a:ext cx="4199453" cy="121920"/>
          </a:xfrm>
          <a:prstGeom prst="roundRect">
            <a:avLst>
              <a:gd name="adj" fmla="val 77780"/>
            </a:avLst>
          </a:prstGeom>
          <a:solidFill>
            <a:srgbClr val="4967E9"/>
          </a:solidFill>
          <a:ln/>
        </p:spPr>
      </p:sp>
      <p:sp>
        <p:nvSpPr>
          <p:cNvPr id="11" name="Shape 9"/>
          <p:cNvSpPr/>
          <p:nvPr/>
        </p:nvSpPr>
        <p:spPr>
          <a:xfrm>
            <a:off x="6976408" y="1777841"/>
            <a:ext cx="677347" cy="677347"/>
          </a:xfrm>
          <a:prstGeom prst="roundRect">
            <a:avLst>
              <a:gd name="adj" fmla="val 134997"/>
            </a:avLst>
          </a:prstGeom>
          <a:solidFill>
            <a:srgbClr val="4967E9"/>
          </a:solidFill>
          <a:ln/>
        </p:spPr>
      </p:sp>
      <p:sp>
        <p:nvSpPr>
          <p:cNvPr id="12" name="Text 10"/>
          <p:cNvSpPr/>
          <p:nvPr/>
        </p:nvSpPr>
        <p:spPr>
          <a:xfrm>
            <a:off x="7179647" y="1947148"/>
            <a:ext cx="270867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71636" y="2680811"/>
            <a:ext cx="3071455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Segmentation Datasets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471636" y="3168848"/>
            <a:ext cx="3687008" cy="108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Pixel level annotated masks for walls, floors, ceilings, and furniture.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9640610" y="2116455"/>
            <a:ext cx="4199573" cy="2391966"/>
          </a:xfrm>
          <a:prstGeom prst="roundRect">
            <a:avLst>
              <a:gd name="adj" fmla="val 6116"/>
            </a:avLst>
          </a:prstGeom>
          <a:solidFill>
            <a:srgbClr val="F9F9FF">
              <a:alpha val="9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9640610" y="2085975"/>
            <a:ext cx="4199573" cy="121920"/>
          </a:xfrm>
          <a:prstGeom prst="roundRect">
            <a:avLst>
              <a:gd name="adj" fmla="val 77780"/>
            </a:avLst>
          </a:prstGeom>
          <a:solidFill>
            <a:srgbClr val="4967E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401723" y="1777841"/>
            <a:ext cx="677347" cy="677347"/>
          </a:xfrm>
          <a:prstGeom prst="roundRect">
            <a:avLst>
              <a:gd name="adj" fmla="val 134997"/>
            </a:avLst>
          </a:prstGeom>
          <a:solidFill>
            <a:srgbClr val="4967E9"/>
          </a:solidFill>
          <a:ln/>
        </p:spPr>
      </p:sp>
      <p:sp>
        <p:nvSpPr>
          <p:cNvPr id="18" name="Text 16"/>
          <p:cNvSpPr/>
          <p:nvPr/>
        </p:nvSpPr>
        <p:spPr>
          <a:xfrm>
            <a:off x="11604962" y="1947148"/>
            <a:ext cx="270867" cy="338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896832" y="2680811"/>
            <a:ext cx="2822258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3D Object Datasets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896832" y="3168848"/>
            <a:ext cx="3687128" cy="108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 quality 3D furniture datasets for reconstruction and blueprint generation.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790218" y="4988123"/>
            <a:ext cx="2984302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Labeling &amp; Annotation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90218" y="5566529"/>
            <a:ext cx="624959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Room segmentation: Walls, floors, ceilings, and objects.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90218" y="6367701"/>
            <a:ext cx="6249591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Furniture classes: Categorizing different furniture types.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790218" y="7168872"/>
            <a:ext cx="6249591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00"/>
              </a:lnSpc>
              <a:buSzPct val="100000"/>
              <a:buChar char="•"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Style &amp; mood tags: Semantic labels for text prompts.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7598212" y="4988123"/>
            <a:ext cx="3498413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Synthetic Data Generation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598212" y="5566529"/>
            <a:ext cx="6249591" cy="108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AI generated room layouts, furniture variations, and paired image and text samples to expand training diversity and improve model robustness.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27759" y="475655"/>
            <a:ext cx="5583793" cy="423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Metrics &amp; KPIs: Measuring Success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3027759" y="953453"/>
            <a:ext cx="2315408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Final Output Evaluation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027759" y="1410891"/>
            <a:ext cx="2767846" cy="1028343"/>
          </a:xfrm>
          <a:prstGeom prst="roundRect">
            <a:avLst>
              <a:gd name="adj" fmla="val 5537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178493" y="1561624"/>
            <a:ext cx="169461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CLIPScore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178493" y="1854637"/>
            <a:ext cx="2466380" cy="43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alignment between generated room and user prompt.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31098" y="1410891"/>
            <a:ext cx="2767965" cy="1028343"/>
          </a:xfrm>
          <a:prstGeom prst="roundRect">
            <a:avLst>
              <a:gd name="adj" fmla="val 5537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81832" y="1561624"/>
            <a:ext cx="169461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FID/KID Scores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81832" y="1854637"/>
            <a:ext cx="2466499" cy="43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visual realism compared to real interiors.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834557" y="1410891"/>
            <a:ext cx="2767965" cy="1028343"/>
          </a:xfrm>
          <a:prstGeom prst="roundRect">
            <a:avLst>
              <a:gd name="adj" fmla="val 5537"/>
            </a:avLst>
          </a:prstGeom>
          <a:solidFill>
            <a:srgbClr val="F9F9FF">
              <a:alpha val="95000"/>
            </a:srgbClr>
          </a:solidFill>
          <a:ln w="15240">
            <a:solidFill>
              <a:srgbClr val="B8BF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85290" y="1561624"/>
            <a:ext cx="169461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SSIM/LPIPS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985290" y="1854637"/>
            <a:ext cx="2466499" cy="43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preservation of original room structure.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27759" y="2642473"/>
            <a:ext cx="2848213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Stage Specific Quality Metrics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27759" y="3099911"/>
            <a:ext cx="4219575" cy="1324808"/>
          </a:xfrm>
          <a:prstGeom prst="roundRect">
            <a:avLst>
              <a:gd name="adj" fmla="val 2456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0872" y="3243024"/>
            <a:ext cx="169461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3D Reconstruction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70872" y="3536037"/>
            <a:ext cx="3933349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PSNR, SSIM for image to 3D accuracy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170872" y="3800356"/>
            <a:ext cx="3933349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Camera pose accuracy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170872" y="4064675"/>
            <a:ext cx="3933349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Mesh completeness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82828" y="3099911"/>
            <a:ext cx="4219694" cy="1324808"/>
          </a:xfrm>
          <a:prstGeom prst="roundRect">
            <a:avLst>
              <a:gd name="adj" fmla="val 24560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25941" y="3243024"/>
            <a:ext cx="169461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Rendering Quality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25941" y="3536037"/>
            <a:ext cx="3933468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Geometric fidelity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525941" y="3800356"/>
            <a:ext cx="3933468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Normal map consistency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25941" y="4064675"/>
            <a:ext cx="3933468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Lighting accuracy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027759" y="4560213"/>
            <a:ext cx="4219575" cy="1589127"/>
          </a:xfrm>
          <a:prstGeom prst="roundRect">
            <a:avLst>
              <a:gd name="adj" fmla="val 20475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70872" y="4703326"/>
            <a:ext cx="199810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Room Editing/Inpainting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170872" y="4996339"/>
            <a:ext cx="3933349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Seam quality (no visible blending artifacts)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170872" y="5260658"/>
            <a:ext cx="3933349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Layout preservation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170872" y="5524976"/>
            <a:ext cx="3933349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Furniture placement accuracy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170872" y="5789295"/>
            <a:ext cx="3933349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Wall color fidelity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82828" y="4560213"/>
            <a:ext cx="4219694" cy="1589127"/>
          </a:xfrm>
          <a:prstGeom prst="roundRect">
            <a:avLst>
              <a:gd name="adj" fmla="val 20475"/>
            </a:avLst>
          </a:prstGeom>
          <a:solidFill>
            <a:srgbClr val="D2D9F9"/>
          </a:solidFill>
          <a:ln w="7620">
            <a:solidFill>
              <a:srgbClr val="B8BF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25941" y="4703326"/>
            <a:ext cx="169461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u="sng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3D Furniture Models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525941" y="4996339"/>
            <a:ext cx="3933468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Chamfer Distance for shape similarity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525941" y="5260658"/>
            <a:ext cx="3933468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Mesh smoothness and watertightness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525941" y="5524976"/>
            <a:ext cx="3933468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Texture quality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525941" y="5789295"/>
            <a:ext cx="3933468" cy="216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Blueprint accuracy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027759" y="6352580"/>
            <a:ext cx="3792855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Measurement Protocols &amp; Ground Truth</a:t>
            </a:r>
            <a:endParaRPr lang="en-US" sz="16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78599" y="6814125"/>
            <a:ext cx="203240" cy="20324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3468172" y="6810018"/>
            <a:ext cx="2304812" cy="42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Comparison to Original User Images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3468172" y="7314724"/>
            <a:ext cx="2304812" cy="43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Compare generated images with original user images and prompts.</a:t>
            </a:r>
            <a:endParaRPr lang="en-US" sz="1050" dirty="0"/>
          </a:p>
        </p:txBody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93249" y="6814125"/>
            <a:ext cx="203240" cy="203240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6382822" y="6810018"/>
            <a:ext cx="169461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Mask Annotations</a:t>
            </a:r>
            <a:endParaRPr lang="en-US" sz="1300" dirty="0"/>
          </a:p>
        </p:txBody>
      </p:sp>
      <p:sp>
        <p:nvSpPr>
          <p:cNvPr id="42" name="Text 38"/>
          <p:cNvSpPr/>
          <p:nvPr/>
        </p:nvSpPr>
        <p:spPr>
          <a:xfrm>
            <a:off x="6382822" y="7103031"/>
            <a:ext cx="2304931" cy="650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pixel level masks for walls, ceilings, and furniture as ground truth.</a:t>
            </a:r>
            <a:endParaRPr lang="en-US" sz="1050" dirty="0"/>
          </a:p>
        </p:txBody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08018" y="6814125"/>
            <a:ext cx="203240" cy="203240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9297591" y="6810018"/>
            <a:ext cx="1694617" cy="2116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04155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Depth Maps</a:t>
            </a:r>
            <a:endParaRPr lang="en-US" sz="1300" dirty="0"/>
          </a:p>
        </p:txBody>
      </p:sp>
      <p:sp>
        <p:nvSpPr>
          <p:cNvPr id="45" name="Text 40"/>
          <p:cNvSpPr/>
          <p:nvPr/>
        </p:nvSpPr>
        <p:spPr>
          <a:xfrm>
            <a:off x="9297591" y="7103031"/>
            <a:ext cx="2304812" cy="433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Validate spatial accuracy using depth map.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2026-01-20T16:35:49Z</dcterms:created>
  <dcterms:modified xsi:type="dcterms:W3CDTF">2026-01-20T16:35:49Z</dcterms:modified>
</cp:coreProperties>
</file>