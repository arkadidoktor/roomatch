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Corben"/>
      <p:regular r:id="rId13"/>
    </p:embeddedFont>
    <p:embeddedFont>
      <p:font typeface="Corben"/>
      <p:regular r:id="rId14"/>
    </p:embeddedFont>
    <p:embeddedFont>
      <p:font typeface="Nobile"/>
      <p:regular r:id="rId15"/>
    </p:embeddedFont>
    <p:embeddedFont>
      <p:font typeface="Nobile"/>
      <p:regular r:id="rId16"/>
    </p:embeddedFont>
    <p:embeddedFont>
      <p:font typeface="Nobile"/>
      <p:regular r:id="rId17"/>
    </p:embeddedFont>
    <p:embeddedFont>
      <p:font typeface="Nobile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Interior Design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09491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Arkadi Doktorovich - 325118610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Elia Meerson - 211819750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3768"/>
            <a:ext cx="61038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Future of Interior Design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530906"/>
            <a:ext cx="93852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Interior design today is a slow and complex process that often relies on expensive professional designers and fragmented digital tools. Users struggle to visualize changes in real time and experiment with personalized styles.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874764"/>
            <a:ext cx="9385221" cy="2252305"/>
          </a:xfrm>
          <a:prstGeom prst="roundRect">
            <a:avLst>
              <a:gd name="adj" fmla="val 6496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2874764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3132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It's Challenging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3622477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Combining image and text input.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42524" y="4064675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Seamlessly integrating new elements.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42524" y="4506873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Maintaining consistent lighting and geometry.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353883"/>
            <a:ext cx="9385221" cy="2252305"/>
          </a:xfrm>
          <a:prstGeom prst="roundRect">
            <a:avLst>
              <a:gd name="adj" fmla="val 6496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310" y="5353883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3" name="Text 10"/>
          <p:cNvSpPr/>
          <p:nvPr/>
        </p:nvSpPr>
        <p:spPr>
          <a:xfrm>
            <a:off x="1142524" y="5611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Current Approaches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42524" y="6101596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Expensive and time consuming.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42524" y="6543794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customization and immediate visualization.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42524" y="6985992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Often lack realism and editing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9864"/>
            <a:ext cx="9275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Redefining Room Transformations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22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receives a room image and a text request describing furniture, style, or mood, and generates a redesigned room that aligns with the user’s intent. Optionally, approved designs include downloadable 3D furniture models.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6322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1976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384709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104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Furniture Handling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5953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can preserve selected objects while removing or replacing others.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96322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1976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384709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104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Blueprint Generation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5953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Approved designs provide accurate, ready to build 3D models for each new item.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296322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1976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384709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104918"/>
            <a:ext cx="30570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Smart Wall Repainting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5953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Wall colors are changed without affecting ceilings or architectural details.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1133951" y="6428780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offers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unprecedented novelty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by integrating multimodal input, object aware editing, and practical 3D model output in a single, intuitive workflow.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93790" y="6173629"/>
            <a:ext cx="30480" cy="1236107"/>
          </a:xfrm>
          <a:prstGeom prst="rect">
            <a:avLst/>
          </a:prstGeom>
          <a:solidFill>
            <a:srgbClr val="4967E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507"/>
            <a:ext cx="111407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Models &amp; Methods: Our Technical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79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uses a multi stage AI pipeline to deliver realistic and consistent interior transformations.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31012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05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Image Segmentation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99573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Models such as SAM or Mask2Former segment the room into walls, floor, ceiling, and furniture objects.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331012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505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Semantic Generation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99573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Diffusion models with ControlNet generate and edit furniture while preserving scene structure and lighting.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73422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647730"/>
            <a:ext cx="44254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Inpainting &amp; Layout Preservation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13814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inpainting ensures natural removal of objects and seamless integration of new elements.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473422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647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Reconstruction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613814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Dedicated 3D reconstruction models transform generated furniture into accurate, production-ready 3D blueprints.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0792"/>
            <a:ext cx="8472011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Specification &amp; Generation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0218" y="2116455"/>
            <a:ext cx="4199453" cy="2391966"/>
          </a:xfrm>
          <a:prstGeom prst="roundRect">
            <a:avLst>
              <a:gd name="adj" fmla="val 6116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0218" y="2085975"/>
            <a:ext cx="4199453" cy="121920"/>
          </a:xfrm>
          <a:prstGeom prst="roundRect">
            <a:avLst>
              <a:gd name="adj" fmla="val 77780"/>
            </a:avLst>
          </a:prstGeom>
          <a:solidFill>
            <a:srgbClr val="4967E9"/>
          </a:solidFill>
          <a:ln/>
        </p:spPr>
      </p:sp>
      <p:sp>
        <p:nvSpPr>
          <p:cNvPr id="5" name="Shape 3"/>
          <p:cNvSpPr/>
          <p:nvPr/>
        </p:nvSpPr>
        <p:spPr>
          <a:xfrm>
            <a:off x="2551212" y="1777841"/>
            <a:ext cx="677347" cy="677347"/>
          </a:xfrm>
          <a:prstGeom prst="roundRect">
            <a:avLst>
              <a:gd name="adj" fmla="val 134997"/>
            </a:avLst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2754451" y="1947148"/>
            <a:ext cx="270867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6440" y="2680811"/>
            <a:ext cx="323349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Interior Design Datasets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6440" y="3168848"/>
            <a:ext cx="3687008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 scale datasets with room images, furniture types, and architectural styles.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5414" y="2116455"/>
            <a:ext cx="4199453" cy="2391966"/>
          </a:xfrm>
          <a:prstGeom prst="roundRect">
            <a:avLst>
              <a:gd name="adj" fmla="val 6116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15414" y="2085975"/>
            <a:ext cx="4199453" cy="121920"/>
          </a:xfrm>
          <a:prstGeom prst="roundRect">
            <a:avLst>
              <a:gd name="adj" fmla="val 77780"/>
            </a:avLst>
          </a:prstGeom>
          <a:solidFill>
            <a:srgbClr val="4967E9"/>
          </a:solidFill>
          <a:ln/>
        </p:spPr>
      </p:sp>
      <p:sp>
        <p:nvSpPr>
          <p:cNvPr id="11" name="Shape 9"/>
          <p:cNvSpPr/>
          <p:nvPr/>
        </p:nvSpPr>
        <p:spPr>
          <a:xfrm>
            <a:off x="6976408" y="1777841"/>
            <a:ext cx="677347" cy="677347"/>
          </a:xfrm>
          <a:prstGeom prst="roundRect">
            <a:avLst>
              <a:gd name="adj" fmla="val 134997"/>
            </a:avLst>
          </a:prstGeom>
          <a:solidFill>
            <a:srgbClr val="4967E9"/>
          </a:solidFill>
          <a:ln/>
        </p:spPr>
      </p:sp>
      <p:sp>
        <p:nvSpPr>
          <p:cNvPr id="12" name="Text 10"/>
          <p:cNvSpPr/>
          <p:nvPr/>
        </p:nvSpPr>
        <p:spPr>
          <a:xfrm>
            <a:off x="7179647" y="1947148"/>
            <a:ext cx="270867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1636" y="2680811"/>
            <a:ext cx="3071455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Segmentation Datasets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1636" y="3168848"/>
            <a:ext cx="3687008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Pixel level annotated masks for walls, floors, ceilings, and furniture.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610" y="2116455"/>
            <a:ext cx="4199573" cy="2391966"/>
          </a:xfrm>
          <a:prstGeom prst="roundRect">
            <a:avLst>
              <a:gd name="adj" fmla="val 6116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40610" y="2085975"/>
            <a:ext cx="4199573" cy="121920"/>
          </a:xfrm>
          <a:prstGeom prst="roundRect">
            <a:avLst>
              <a:gd name="adj" fmla="val 77780"/>
            </a:avLst>
          </a:prstGeom>
          <a:solidFill>
            <a:srgbClr val="4967E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01723" y="1777841"/>
            <a:ext cx="677347" cy="677347"/>
          </a:xfrm>
          <a:prstGeom prst="roundRect">
            <a:avLst>
              <a:gd name="adj" fmla="val 134997"/>
            </a:avLst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4962" y="1947148"/>
            <a:ext cx="270867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6832" y="2680811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Object Datasets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6832" y="3168848"/>
            <a:ext cx="3687128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quality 3D furniture datasets for reconstruction and blueprint generation.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0218" y="4988123"/>
            <a:ext cx="2984302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Labeling &amp; Annotation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0218" y="5566529"/>
            <a:ext cx="62495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Room segmentation: Walls, floors, ceilings, and objects.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0218" y="6367701"/>
            <a:ext cx="62495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Furniture classes: Categorizing different furniture types.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0218" y="7168872"/>
            <a:ext cx="6249591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Style &amp; mood tags: Semantic labels for text prompts.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98212" y="4988123"/>
            <a:ext cx="3498413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Synthetic Data Generation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98212" y="5566529"/>
            <a:ext cx="6249591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generated room layouts, furniture variations, and paired image and text samples to expand training diversity and improve model robustness.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7759" y="475655"/>
            <a:ext cx="5583793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Metrics &amp; KPIs: Measuring Success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3027759" y="953453"/>
            <a:ext cx="231540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Final Output Evaluation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027759" y="1410891"/>
            <a:ext cx="2767846" cy="1028343"/>
          </a:xfrm>
          <a:prstGeom prst="roundRect">
            <a:avLst>
              <a:gd name="adj" fmla="val 5537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78493" y="15616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CLIPScore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8493" y="1854637"/>
            <a:ext cx="2466380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alignment between generated room and user prompt.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31098" y="1410891"/>
            <a:ext cx="2767965" cy="1028343"/>
          </a:xfrm>
          <a:prstGeom prst="roundRect">
            <a:avLst>
              <a:gd name="adj" fmla="val 5537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1832" y="15616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FID/KID Scores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1832" y="1854637"/>
            <a:ext cx="2466499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realism compared to real interiors.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34557" y="1410891"/>
            <a:ext cx="2767965" cy="1028343"/>
          </a:xfrm>
          <a:prstGeom prst="roundRect">
            <a:avLst>
              <a:gd name="adj" fmla="val 5537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5290" y="15616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SSIM/LPIPS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85290" y="1854637"/>
            <a:ext cx="2466499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preservation of original room structure.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27759" y="2642473"/>
            <a:ext cx="2848213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Stage Specific Quality Metrics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27759" y="3099911"/>
            <a:ext cx="4219575" cy="1324808"/>
          </a:xfrm>
          <a:prstGeom prst="roundRect">
            <a:avLst>
              <a:gd name="adj" fmla="val 2456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0872" y="32430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Reconstruction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70872" y="3536037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PSNR, SSIM for image to 3D 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70872" y="3800356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Camera pose accuracy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70872" y="4064675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Mesh completeness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82828" y="3099911"/>
            <a:ext cx="4219694" cy="1324808"/>
          </a:xfrm>
          <a:prstGeom prst="roundRect">
            <a:avLst>
              <a:gd name="adj" fmla="val 2456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5941" y="32430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Rendering 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5941" y="3536037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Geometric fidelity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25941" y="3800356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 map consistency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5941" y="4064675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Lighting accuracy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27759" y="4560213"/>
            <a:ext cx="4219575" cy="1589127"/>
          </a:xfrm>
          <a:prstGeom prst="roundRect">
            <a:avLst>
              <a:gd name="adj" fmla="val 204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0872" y="4703326"/>
            <a:ext cx="199810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Room Editing/Inpainting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70872" y="4996339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 quality (no visible blending artifacts)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70872" y="5260658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Layout preservation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70872" y="5524976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Furniture placement accuracy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70872" y="5789295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Wall color fidelity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82828" y="4560213"/>
            <a:ext cx="4219694" cy="1589127"/>
          </a:xfrm>
          <a:prstGeom prst="roundRect">
            <a:avLst>
              <a:gd name="adj" fmla="val 204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941" y="4703326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Furniture Models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25941" y="4996339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Chamfer Distance for shape similarity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25941" y="5260658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Mesh smoothness and watertightness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25941" y="5524976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Texture quality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25941" y="5789295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Blueprint accuracy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27759" y="6352580"/>
            <a:ext cx="3792855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Measurement Protocols &amp; Ground Truth</a:t>
            </a:r>
            <a:endParaRPr lang="en-US" sz="16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599" y="6814125"/>
            <a:ext cx="203240" cy="2032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468172" y="6810018"/>
            <a:ext cx="2304812" cy="42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Comparison to Original User Images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468172" y="7314724"/>
            <a:ext cx="2304812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 generated images with original user images and prompts.</a:t>
            </a:r>
            <a:endParaRPr lang="en-US" sz="105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3249" y="6814125"/>
            <a:ext cx="203240" cy="20324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382822" y="6810018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Mask Annotations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382822" y="7103031"/>
            <a:ext cx="2304931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pixel level masks for walls, ceilings, and furniture as ground truth.</a:t>
            </a:r>
            <a:endParaRPr lang="en-US" sz="10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8018" y="6814125"/>
            <a:ext cx="203240" cy="20324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9297591" y="6810018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Depth Maps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9297591" y="7103031"/>
            <a:ext cx="2304812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Validate spatial accuracy using depth map.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2026-01-20T20:31:15Z</dcterms:created>
  <dcterms:modified xsi:type="dcterms:W3CDTF">2026-01-20T20:31:15Z</dcterms:modified>
</cp:coreProperties>
</file>